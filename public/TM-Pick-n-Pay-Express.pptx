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06240" y="0"/>
            <a:ext cx="493776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120640" cy="5143500"/>
          </a:xfrm>
          <a:prstGeom prst="rect">
            <a:avLst/>
          </a:prstGeom>
          <a:solidFill>
            <a:srgbClr val="10243F"/>
          </a:solidFill>
          <a:ln/>
        </p:spPr>
      </p:sp>
      <p:sp>
        <p:nvSpPr>
          <p:cNvPr id="4" name="Shape 1"/>
          <p:cNvSpPr/>
          <p:nvPr/>
        </p:nvSpPr>
        <p:spPr>
          <a:xfrm>
            <a:off x="5120640" y="0"/>
            <a:ext cx="1005840" cy="5143500"/>
          </a:xfrm>
          <a:prstGeom prst="rect">
            <a:avLst/>
          </a:prstGeom>
          <a:solidFill>
            <a:srgbClr val="10243F">
              <a:alpha val="55000"/>
            </a:srgbClr>
          </a:solidFill>
          <a:ln w="12700">
            <a:solidFill>
              <a:srgbClr val="1024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11480" y="411480"/>
            <a:ext cx="1645920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93776"/>
            <a:ext cx="1463040" cy="2834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11480" y="1463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BOARD PROPOSAL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11480" y="182880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Express</a:t>
            </a:r>
            <a:endParaRPr lang="en-US" sz="3300" dirty="0"/>
          </a:p>
        </p:txBody>
      </p:sp>
      <p:sp>
        <p:nvSpPr>
          <p:cNvPr id="9" name="Text 5"/>
          <p:cNvSpPr/>
          <p:nvPr/>
        </p:nvSpPr>
        <p:spPr>
          <a:xfrm>
            <a:off x="411480" y="26060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Evolving Click &amp; Collect into Diaspora-to-Door delivery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11480" y="34290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11480" y="37490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Executive Board · TM Pick n Pay Zimbabwe &amp; Meikles Limited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 · THE OPPORTUNITY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Monetising the digital infrastructure you already own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373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9202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06654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foundation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2633472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tmpnponline.co.zw and the dedicated app are already live, running localized Click &amp; Collect across the estate.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0" y="17373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29000" y="19202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29000" y="206654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gap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429000" y="2633472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demands transport, fuel and time. Diaspora buyers still pay Malayitsha vans purely for doorstep convenience.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89320" y="17373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17920" y="19202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17920" y="206654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value proposition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17920" y="2633472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Diaspora UI mode plus a decentralised last-mile network turns 57+ branches into on-demand fulfilment nodes.</a:t>
            </a:r>
            <a:endParaRPr lang="en-US" sz="12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1480" y="3703320"/>
            <a:ext cx="832104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 · STATUS QUO VS EVOLUTION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Bypassing physical logistics friction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8308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984248"/>
            <a:ext cx="146304" cy="146304"/>
          </a:xfrm>
          <a:prstGeom prst="ellipse">
            <a:avLst/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190195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system — Click &amp; Collect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233172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33172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shopper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647188" y="233172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47188" y="233172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app order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54296" y="233172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54296" y="233172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 must travel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61404" y="233172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61404" y="233172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branches only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297180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3172968"/>
            <a:ext cx="146304" cy="14630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309067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evolution — On-demand diaspora engine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0080" y="352044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352044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shopper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245766" y="352044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245766" y="352044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ads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851453" y="352044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51453" y="352044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US$ gateway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457139" y="352044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57139" y="352044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courier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062826" y="352044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2826" y="352044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Recipient's door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11480" y="4160520"/>
            <a:ext cx="4069080" cy="548640"/>
          </a:xfrm>
          <a:prstGeom prst="roundRect">
            <a:avLst>
              <a:gd name="adj" fmla="val 13333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16052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and elderly recipients cannot easily reach a flagship urban branch to collect heavy hampers.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663440" y="4160520"/>
            <a:ext cx="4069080" cy="548640"/>
          </a:xfrm>
          <a:prstGeom prst="roundRect">
            <a:avLst>
              <a:gd name="adj" fmla="val 13333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846320" y="416052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Door-to-door fulfilment adds sponsors who want confirmation that food arrived safely.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P&amp;L ASSUMPTIONS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Monetising every stage of the cross-border basket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594360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diaspora customers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523744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06624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2706624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per month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36008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18888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US$85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4818888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basket size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48272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31152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931152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11480" y="3063240"/>
            <a:ext cx="8321040" cy="1371600"/>
          </a:xfrm>
          <a:prstGeom prst="roundRect">
            <a:avLst>
              <a:gd name="adj" fmla="val 6667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C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GROSS MERCHANDISE VALUE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77240" y="3520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US$61,200,000</a:t>
            </a:r>
            <a:endParaRPr lang="en-US" sz="3600" dirty="0"/>
          </a:p>
        </p:txBody>
      </p:sp>
      <p:sp>
        <p:nvSpPr>
          <p:cNvPr id="24" name="Text 21"/>
          <p:cNvSpPr/>
          <p:nvPr/>
        </p:nvSpPr>
        <p:spPr>
          <a:xfrm>
            <a:off x="5486400" y="329184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customers × 1.5 orders × US$85 × 12 months — migrated from cash remittances and Malayitsha vans into a tracked US$ retail pipeline.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FIVE REVENUE STREAMS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stacked revenue streams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Retail product margins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9436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captured on goods otherwise bought in South African cash-and-carries. 21% gross margin.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24612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2900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Last-mile delivery share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42900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US$4.50 fee within 10km; the platform retains US$1.50 net per drop.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42900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08076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Cross-border surcharge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26364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checkout fee on international cards originating outside Zimbabwe.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26364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41148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Diaspora Priority tiers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9436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US$8.99/month for free delivery and recurring staple baskets. 15% adoption.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24612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42900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Retail media network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342900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FMCG brands bid for sponsored placement in front of high-spend diaspora buyers.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342900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08076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63640" y="33375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ECOSYSTEM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263640" y="3611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6263640" y="405079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annual revenue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 · REVENUE BREAKDOWN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Projected total ecosystem annual revenue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11480" y="14813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411480" y="20116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retail margins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22311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gross retail margin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06640" y="208483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11480" y="2514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share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11480" y="273405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US$1.50 net per drop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291840" y="260604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91840" y="2606040"/>
            <a:ext cx="334255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06640" y="258775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11480" y="30175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tech surcharge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11480" y="323697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international cards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291840" y="310896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291840" y="3108960"/>
            <a:ext cx="568234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06640" y="30906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11480" y="35204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Priority subscriptions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11480" y="373989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subscribers @ US$8.99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3291840" y="361188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91840" y="361188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406640" y="359359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11480" y="4023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Supplier-funded retail media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11480" y="424281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 of platform GMV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3291840" y="411480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91840" y="411480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06640" y="409651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 · BUSINESS MODEL OPTIONS 1–2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Aligning risk, capital and structure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3736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12648" y="18836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2648" y="18836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554480" y="18470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Concierge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12648" y="2240280"/>
            <a:ext cx="3639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operate as a standalone entity mirroring your catalog via API. Senders pay us in US$; we buy stock at a negotiated wholesale discount and fulfil with our own driver network.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12648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12648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US$15,000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828800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1828800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US$8,500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044952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044952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5–8% markup + 3–5% rebate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709160" y="173736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910328" y="18836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10328" y="18836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852160" y="18470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Licensing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910328" y="2240280"/>
            <a:ext cx="3639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the cross-border storefront extension and license it to TM PnP. It integrates into tmpnponline.co.zw, natively branded, fulfilled by third-party Zimbabwean couriers.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910328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4910328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US$25,000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126480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126480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US$2,000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342632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342632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US$40k + US$3.5k/mo or 1.5–2% GMV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 · BUSINESS MODEL OPTIONS 3–4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Partnership and hybrid structures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3736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12648" y="18836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2648" y="18836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3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554480" y="18470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Tripartite Joint Venture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12648" y="2240280"/>
            <a:ext cx="3639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PnP + Quatrohaus / Code Virtus + our firm. We provide the cross-border framework, payment tunnels and diaspora marketing; branch staff pick, third-party bike networks deliver.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12648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12648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US$5,000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828800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1828800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Absorbed in IT budget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044952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044952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/ 20 / 20 net profit split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709160" y="173736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910328" y="18836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10328" y="18836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4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852160" y="18470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Remittance Tokens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910328" y="2240280"/>
            <a:ext cx="3639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shoppers buy a US$ Eco-Voucher: auto-dispatch a staple hamper by bike courier, or push a secure barcode via SMS/WhatsApp for in-store redemption, bypassing cash-out queues.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910328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4910328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US$10,000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126480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126480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US$3,000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342632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342632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4–6% commission + float yield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 · CONFIGURATION MATRIX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Commercial model comparison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783080"/>
          <a:ext cx="83210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Metric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 · Reseller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2 · White-Label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 · Joint Venture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4 · Voucher Hybrid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Upfront capital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US$25,000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effort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Extremely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(oversight)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market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markups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 fees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profit pool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 + float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PnP risk tier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 buyer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partner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 · CRITICAL INTEGRATIONS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beyond the current platform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11480" y="1572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new components layer over the existing web framework.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148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" y="21488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29514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Geo-fenced marketing core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0080" y="2862072"/>
            <a:ext cx="2194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Hyper-targeted social and digital advertising aimed at high-density Zimbabwean pockets — Hillbrow and Randburg in South Africa, London and Leeds in the UK.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4612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1488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74720" y="229514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logistics middleware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474720" y="2862072"/>
            <a:ext cx="2194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dispatch interface linking the TM PnP back-end to localized courier networks and on-demand e-bike fleets for route optimisation and proof of delivery.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08076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21488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09360" y="229514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substitution logic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309360" y="2862072"/>
            <a:ext cx="2194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WhatsApp bot lets the sender or recipient approve alternatives instantly when an item goes out of stock during picking.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486400" cy="5143500"/>
          </a:xfrm>
          <a:prstGeom prst="rect">
            <a:avLst/>
          </a:prstGeom>
          <a:solidFill>
            <a:srgbClr val="A50C2D"/>
          </a:solidFill>
          <a:ln/>
        </p:spPr>
      </p:sp>
      <p:sp>
        <p:nvSpPr>
          <p:cNvPr id="4" name="Shape 1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920240" y="30175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 · FIRST-MOVER ADVANTAGE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89204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defensive moat against OK Zimbabwe &amp; Choppies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411480" y="1783080"/>
            <a:ext cx="484632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1947672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21792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50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leadership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21792" y="2313432"/>
            <a:ext cx="4434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competitors stay focused on brick-and-mortar or basic localized delivery, TM PnP becomes the definitive cross-border retail pipeline for the diaspora ecosystem.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11480" y="3154680"/>
            <a:ext cx="484632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" y="3319272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" y="33192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50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Maximising group assets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621792" y="3685032"/>
            <a:ext cx="4434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desks convert into high-volume dispatch stations, lifting stock turnover speed across all primary product lines.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 · VALUE PROPOSITION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platform uniquely delivers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solution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Customizable platform retailers brand as their own, with flexible commercial models — subscription or commission-based.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642616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5496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25496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Time-to-market advantage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2825496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existing integrations (API, SIM switch, payments) to launch quickly and capture customers before competitors.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73752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56632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56632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 and secure platform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056632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reliable, scalable and secure system compared to informal, unregulated channels.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104888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87768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287768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integration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287768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across multiple banks, expanding reach and customer access.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mass creation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94360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in building user adoption through partnerships with banks and diaspora communities.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642616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25496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825496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2825496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fees, subscription or discounts — flexibility for different business strategies.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873752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56632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56632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Adaptability to market dynamics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5056632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to adjust pricing, packaging and delivery models as consumer behaviour shifts.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7104888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287768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287768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Direct-to-Consumer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7287768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beyond brick-and-mortar retail into a direct relationship with the shopper.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· BENEFITS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Benefits to TM Pick n Pay and the market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 market entry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developer integrations accelerate rollout.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00984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65576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66744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convenience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666744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shift lets diaspora and local customers buy from anywhere.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190488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55080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56248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Expanded customer base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56248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markets plus multiple banks' captured audiences.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11480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76072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7240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Replacement of informal trading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777240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legitimate, tax-compliant alternative to unreliable channels.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300984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465576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666744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Cross-border resilience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3666744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Bypasses constraints on physical goods movement between countries.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190488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355080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556248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Economies of scale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556248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prices and smaller packages matched to consumer cash flow.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11480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6072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77240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Increased loyalty &amp; retention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777240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Secure, reliable delivery builds trust vs informal traders.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3300984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65576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66744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diversification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3666744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Subscriptions, fees or discounts plus wholesale partnerships.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6190488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355080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556248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Scalability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6556248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expansion with packaging adapted to local needs.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11480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76072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77240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Convenience-driven adoption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777240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daily-use packages fit township and village habits.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3300984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65576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666744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Government alignment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3666744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Formalized trade supports taxation and regulation.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14 · WHY NOW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 market access and intelligence — not “a diaspora solution”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87452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020824"/>
            <a:ext cx="3584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Brick-and-mortar is no longer defensible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2587752"/>
            <a:ext cx="358444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 retail cannot hold share on its own. The defensible asset is the customer relationship, not the store estate.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90872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919472" y="187452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19472" y="2020824"/>
            <a:ext cx="3584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Buyers are price-led, not brand-led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919472" y="2587752"/>
            <a:ext cx="358444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shop the cheapest basket available on the day. Informal channels are winning that comparison by default.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1480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" y="310896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3255264"/>
            <a:ext cx="3584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Malayitsha channel is being constricted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0080" y="3822192"/>
            <a:ext cx="358444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One-stop border posts, electronic travel authority and tighter vehicle declarations are squeezing the informal cross-border van trade.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690872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919472" y="310896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19472" y="3255264"/>
            <a:ext cx="3584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opening left behind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919472" y="3822192"/>
            <a:ext cx="358444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funding + bank rails + owned delivery + wholesale into the informal channel — a brand that lives in people's homes.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11480" y="4206240"/>
            <a:ext cx="8321040" cy="566928"/>
          </a:xfrm>
          <a:prstGeom prst="roundRect">
            <a:avLst>
              <a:gd name="adj" fmla="val 12903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420624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discipline: the pitch is market access and demand intelligence. Framed as a diaspora product, it reads as a niche remittance play and stalls in committee.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 · DOWNSTREAM INNOVATION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end state is a trading platform, not a single-retailer app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1264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264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Entry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value-add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1264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Single-tenant. TM branded, TM catalogue, TM fulfilment. The platform earns its place inside one retailer before anything else is discussed.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24612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4728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4728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Depth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44728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Wholesale and informal channel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344728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supplies tuck shops and repackagers through the same rails. Volume grows without adding a competing banner to the storefront.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08076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8192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8192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End state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28192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Retail-agnostic trading platform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628192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asks for cooking oil; the request goes to every participating supplier and the best price wins. Retailers become suppliers on a marketplace.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1148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179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has already been prototyped — three banners running in one app — then deliberately pulled back to a single tenant for the entry conversation.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66344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7375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is the safeguard: introduce the platform as a TM advantage, without signalling that competitors sit on the same rails on day one.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16 · PRICE COMPARISON ENGINE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Item-level price comparison is the reason to participate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457200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470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REQUEST · “COOKING OIL”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40080" y="219456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25856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 · 2L cooking oil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22960" y="24688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price · 2.1km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520440" y="2194560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US$3.10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0080" y="279806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62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B · 2L cooking oil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22960" y="307238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slot · 0.8km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3520440" y="2798064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US$3.45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0080" y="340156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346557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 · 2L cooking oil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22960" y="36758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offer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520440" y="3401568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US$3.60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0080" y="400507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6908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 shop · 500ml repack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22960" y="42793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fulfilment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520440" y="4005072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US$0.95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166360" y="16916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394960" y="187452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394960" y="2020824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Comparison across every participating supplier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394960" y="2587752"/>
            <a:ext cx="3108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fans out to all listed suppliers. The shopper sees price, distance and slot side by side and picks. Price competition, not shelf position, decides the sale.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166360" y="324612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394960" y="342900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94960" y="3575304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ranking of most-tradable items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5394960" y="4142232"/>
            <a:ext cx="3108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ranks demand by item, area and week — a what-to-stock signal feeding order-to-cash: buy the right depth, in the right pack size, before the demand lands.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17 · THE REVENUE MODEL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that allows a subscription is the model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fees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2648" y="225856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rent-to-buy instalments, then a standing platform fee per dollar earned.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4728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447288" y="225856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livery, in-app placement and supplier media sold as monthly inventory.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08076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8192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Garage services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81928" y="225856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Servicing, parts and accessories on a maintenance plan, not a per-repair invoice.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1148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2648" y="304495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 fees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12648" y="344728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retailer, wholesaler and tuck shop pays a tiered monthly platform fee.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24612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47288" y="304495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Shopper plans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3447288" y="344728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delivery and family basket sharing on a recurring plan.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08076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81928" y="304495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products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281928" y="344728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and price intelligence licensed by subscription to suppliers.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11480" y="41605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above is bent toward recurring revenue. One-off transaction fees fund a project; recurring fees fund a company and give the valuation a base to stand on.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18 · CONSOLIDATED REVENUE MODEL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revenue model: launch stack plus recurring layer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484632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78308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MODELLED TODAY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80" y="21031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product margins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margin on migrated basket · Transactional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749040" y="21214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US$12,852,000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0545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share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2688336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US$1.50 net per drop · Transactional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749040" y="252374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US$1,080,000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29077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surcharge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09067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international cards · Transactional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749040" y="29260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US$1,836,000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31012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Priority plans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" y="349300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subscribers @ US$8.99 · Recurring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749040" y="33284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US$647,280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" y="3712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media network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" y="389534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 of platform GMV · Semi-recurring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749040" y="373075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US$734,400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4160520"/>
            <a:ext cx="4389120" cy="9144"/>
          </a:xfrm>
          <a:prstGeom prst="rect">
            <a:avLst/>
          </a:prstGeom>
          <a:solidFill>
            <a:srgbClr val="E2E5EB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4251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ecosystem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20040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440680" y="1645920"/>
            <a:ext cx="3291840" cy="2971800"/>
          </a:xfrm>
          <a:prstGeom prst="roundRect">
            <a:avLst>
              <a:gd name="adj" fmla="val 246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669280" y="17830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RECURRING LAYER ADDED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669280" y="21031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platform fees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5669280" y="228600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monthly fee per retailer, wholesaler and tuck shop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669280" y="25328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plans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669280" y="271576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Rent-to-buy instalment, then a standing platform fee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5669280" y="296265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Garage &amp; maintenance plans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5669280" y="314553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servicing and parts cover, not per repair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5669280" y="339242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price intelligence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669280" y="357530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and pricing feeds licensed to suppliers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669280" y="38221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plans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5669280" y="400507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delivery and shared family baskets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5669280" y="42793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per tier still to be set — annual values [TBC] until tenant and rider counts are agreed.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19 · FUTURE REVENUE MIX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transaction-led to subscription-led as the platform goes agnostic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008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Diaspora-to-door on TM stock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margin, delivery share and the cross-border surcharge carry the model. One recurring line: Diaspora Priority at US$647,280.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24612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47472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 and third retailers onboard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47472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platform fees, rider plans and garage plans start billing monthly. Transaction fees stay, but stop being the whole story.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8076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AGNOSTIC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30936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Marketplace of retailers and tuck shops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30936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 across tenants, riders, shoppers and data become the base load; commission rides on top as upside.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11480" y="3977640"/>
            <a:ext cx="8321040" cy="594360"/>
          </a:xfrm>
          <a:prstGeom prst="roundRect">
            <a:avLst>
              <a:gd name="adj" fmla="val 1230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" y="40690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ecosystem, valued differently: transaction fees fund a project, recurring fees fund a company.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20 · OWNED DELIVERY NETWORK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last mile is owned, not outsourced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500–2,000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594360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Platform-owned electric scooters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523744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06624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months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706624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Rent-to-buy, then the rider owns it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636008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18888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 months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818888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pays itself back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748272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31152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~10%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931152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fee per dollar earned after ownership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11480" y="27432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2648" y="290779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Rent-to-buy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12648" y="3310128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rider operates for twelve months and then owns the scooter. The asset repays itself in roughly five months; months six to twelve are margin.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46120" y="27432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447288" y="290779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 rights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447288" y="3310128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Livery is sold on subscription: 80% reserved for the anchor retailer, 20% open inventory. A moving media network across every delivery route.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080760" y="27432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81928" y="290779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the garage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281928" y="3310128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Repairs, parts and accessories stay inside the platform on a maintenance plan. Electric tricycles extend the fleet into rural routes, with women riders as the first cohort.</a:t>
            </a:r>
            <a:endParaRPr lang="en-US" sz="100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1480" y="4279392"/>
            <a:ext cx="832104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21 · LOYALTY &amp; DEVICE MIGRATION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 US$100 a month for five months — earn the handset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1148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0312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10312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24028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79476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79476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93192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48640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2356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717804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7804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1520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5G-lite smartphone awarded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1148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40080" y="297180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31181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Discovery-Vitality mechanics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40080" y="3685032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qualifying months unlock the reward. Behaviour is earned, not bought, and the tier resets if trading lapses.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24612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74720" y="297180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74720" y="31181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basket sharing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3474720" y="3685032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household members contribute to one qualifying basket, so families reach the threshold faster and consolidate spend on the platform.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08076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309360" y="297180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09360" y="31181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real purpose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09360" y="3685032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~US$50 landed handset with the markup absorbed migrates 2G and 3G users onto the platform. Device cost is customer acquisition, booked as such.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22 · PAYMENT RAILS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by design, multi-bank in practice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1856232"/>
            <a:ext cx="3666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banks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2648" y="2258568"/>
            <a:ext cx="36667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your remittance APIs into the platform and we bring transaction share-of-wallet: recurring diaspora flows landing as retail settlement rather than cash-out.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exclusivity is requested and none is given. Every rail is one integration among several, so pricing stays competitive and no single institution gates the platform.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64608" y="1856232"/>
            <a:ext cx="3666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the retailer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864608" y="2258568"/>
            <a:ext cx="36667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bring critical mass. Their diaspora bases are already captured audiences; the platform converts those balances into baskets inside your estate.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Institutions under discussion are prospects at this stage. Nothing is presented in-app as a confirmed partnership until an agreement is signed.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3977640"/>
            <a:ext cx="8321040" cy="658368"/>
          </a:xfrm>
          <a:prstGeom prst="roundRect">
            <a:avLst>
              <a:gd name="adj" fmla="val 11111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97764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rule: no bank-specific logic in the core. Rails are adapters, so adding or dropping an institution is a configuration change, never a rebuild.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23 · WHOLESALE &amp; INFORMAL CHANNEL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Tuck shops become distribution extensions, not competitors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1929384" cy="128016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8013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94360" y="20025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Aggregate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94360" y="2286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orders in a suburb are pooled in the app rather than fragmented across trips.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523744" y="1691640"/>
            <a:ext cx="192938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06624" y="18013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706624" y="20025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Fulfil locally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706624" y="2286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nearest tuck shop picks and hands over, cutting distance, fuel and delivery cost.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636008" y="1691640"/>
            <a:ext cx="1929384" cy="128016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18888" y="18013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818888" y="20025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Repackage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818888" y="2286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stock is broken into the 200g-type pack sizes the market actually buys.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748272" y="1691640"/>
            <a:ext cx="192938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31152" y="18013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931152" y="20025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Supply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931152" y="2286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retailer sells bulk into the channel as a wholesaler and keeps the volume.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3108960"/>
            <a:ext cx="4069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0080" y="32918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3438144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Pack size is the unlock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40080" y="400507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buy 200g, not 2kg. The retailer sells bulk to the tuck shop, the tuck shop repackages to the price point the street can afford — the small-multipack playbook proven by packaged brands expanding regionally.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663440" y="3108960"/>
            <a:ext cx="4069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92040" y="32918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892040" y="3438144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government argument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4892040" y="400507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informal trade through the platform makes it visible: tax is captured, stock is traceable and counterfeit product is squeezed out. Legitimisation, not enforcement.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24 · COMMERCIAL &amp; ENTITY STRUCTURE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model, two-country structure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2648" y="2258568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storefront and app ship under the retailer's brand, licensed rather than sold.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4728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Subscription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447288" y="2258568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monthly platform fees per tenant, opening at a 100,000-participant tier.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08076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8192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Commission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81928" y="2258568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transaction share on GMV, sitting on top of the recurring base.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1148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2648" y="3136392"/>
            <a:ext cx="3666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South African company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12648" y="3538728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platform IP and raises capital where liquidity and investor access are deepest. Contracts with tenants and banks sit here.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66344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864608" y="3136392"/>
            <a:ext cx="3666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Zimbabwean subsidiary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864608" y="3538728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logistics, the scooter fleet and local agreements on the ground, with local employment and local regulatory standing.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11480" y="427939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as at 13 August — structure to be confirmed with tax and legal counsel before any binding term sheet.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49040" y="960120"/>
            <a:ext cx="16459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051560"/>
            <a:ext cx="1463040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7830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57+ branches into a diaspora fulfilment network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023360" y="29718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463040" y="3291840"/>
            <a:ext cx="6217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step: select a commercial structure and mandate a 60-day pilot on two flagship Harare branches.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1148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07492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2026-08-15T07:41:14Z</dcterms:created>
  <dcterms:modified xsi:type="dcterms:W3CDTF">2026-08-15T07:41:14Z</dcterms:modified>
</cp:coreProperties>
</file>