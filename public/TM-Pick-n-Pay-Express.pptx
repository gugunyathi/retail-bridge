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0"/>
            <a:ext cx="49377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5120640" y="0"/>
            <a:ext cx="1005840" cy="5143500"/>
          </a:xfrm>
          <a:prstGeom prst="rect">
            <a:avLst/>
          </a:prstGeom>
          <a:solidFill>
            <a:srgbClr val="10243F">
              <a:alpha val="55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64592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93776"/>
            <a:ext cx="1463040" cy="2834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Diaspora-to-Door delivery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665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63347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0040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2900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29000" y="20665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429000" y="263347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89320" y="17373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17920" y="19202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0" y="20665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17920" y="263347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Diaspora UI mode plus a decentralised last-mile network turns 57+ branches into on-demand fulfilment nodes.</a:t>
            </a:r>
            <a:endParaRPr lang="en-US" sz="12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" y="3703320"/>
            <a:ext cx="832104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98424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90195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647188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54296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61404" y="233172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33172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297180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17296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3090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diaspora engine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245766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851453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57139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courier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062826" y="352044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52044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11480" y="4160520"/>
            <a:ext cx="4069080" cy="548640"/>
          </a:xfrm>
          <a:prstGeom prst="roundRect">
            <a:avLst>
              <a:gd name="adj" fmla="val 1333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urban branch to collect heavy hampers.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663440" y="4160520"/>
            <a:ext cx="4069080" cy="548640"/>
          </a:xfrm>
          <a:prstGeom prst="roundRect">
            <a:avLst>
              <a:gd name="adj" fmla="val 13333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adds sponsors who want confirmation that food arrived safely.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every stage of the cross-border basket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GROSS MERCHANDISE VALUE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486400" y="329184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6263640" y="40507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annual revenue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 1–2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55448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1264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at a negotiated wholesale discount and fulfil with our own driver network.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1264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US$15,000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82880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82880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US$8,500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04495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04495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0916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1032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1032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85216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Licensing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91032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91032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1032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US$25,000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12648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12648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US$2,000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4263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34263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US$40k + US$3.5k/mo or 1.5–2% GMV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 3–4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 and hybrid structures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3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55448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Tripartite Joint Venture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1264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 + Quatrohaus / Code Virtus + our firm. We provide the cross-border framework, payment tunnels and diaspora marketing; branch staff pick, third-party bike networks deliver.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1264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US$5,000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82880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82880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in IT budget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04495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04495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20 / 20 net profit split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09160" y="173736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10328" y="188366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10328" y="18836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4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852160" y="18470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Remittance Tokens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910328" y="2240280"/>
            <a:ext cx="3639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shoppers buy a US$ Eco-Voucher: auto-dispatch a staple hamper by bike courier, or push a secure barcode via SMS/WhatsApp for in-store redemption, bypassing cash-out queues.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910328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10328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US$10,000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126480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126480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US$3,000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342632" y="35661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342632" y="3749040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 commission + float yield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 · Reseller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· White-Label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· Joint Venture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 · Voucher Hybrid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US$25,000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(oversight)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profit pool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 + float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partner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148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2951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2862072"/>
            <a:ext cx="219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74720" y="2148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74720" y="22951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474720" y="2862072"/>
            <a:ext cx="219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2148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09360" y="229514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309360" y="2862072"/>
            <a:ext cx="2194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20240" y="30175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89204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19476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21792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21792" y="2313432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cross-border retail pipeline for the diaspora ecosystem.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11480" y="315468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3192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" y="33192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21792" y="3685032"/>
            <a:ext cx="4434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fees, subscription or discounts —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 market access and intelligence — not “a diaspora solution”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74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2082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58775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19472" y="1874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19472" y="202082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919472" y="258775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" y="31089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25526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" y="382219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19472" y="310896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19472" y="3255264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919472" y="3822192"/>
            <a:ext cx="358444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42062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discipline: the pitch is market access and demand intelligence. Framed as a diaspora product, it reads as a niche remittance play and stalls in committee.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394960" y="187452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94960" y="2020824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394960" y="2587752"/>
            <a:ext cx="3108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394960" y="34290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94960" y="3575304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394960" y="4142232"/>
            <a:ext cx="3108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17 · THE REVENUE MODEL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4728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4728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8192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81928" y="225856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264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4728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44728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81928" y="304495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281928" y="3447288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revenue. One-off transaction fees fund a project; recurring fees fund a company and give the valuation a base to stand on.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18 · CONSOLIDATED REVENUE MODEL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consolidated revenue model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84632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830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MODELLED TODAY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" y="21031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 margins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margin on migrated basket · Transactional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0" y="21214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US$12,852,000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054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268833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 · Transactional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749040" y="252374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US$1,080,000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2907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surcharge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09067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 · Transactional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49040" y="2926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US$1,836,000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31012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plans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" y="34930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 · Recurring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749040" y="33284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US$647,280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" y="3712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network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" y="389534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 · Semi-recurring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749040" y="373075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US$734,400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160520"/>
            <a:ext cx="4389120" cy="9144"/>
          </a:xfrm>
          <a:prstGeom prst="rect">
            <a:avLst/>
          </a:prstGeom>
          <a:solidFill>
            <a:srgbClr val="E2E5EB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251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20040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440680" y="1645920"/>
            <a:ext cx="3291840" cy="2971800"/>
          </a:xfrm>
          <a:prstGeom prst="roundRect">
            <a:avLst>
              <a:gd name="adj" fmla="val 246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69280" y="17830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RECURRING LAYER ADDED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669280" y="21031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669280" y="228600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fee per retailer and tuck shop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669280" y="25328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plans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0" y="27157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 instalment, then a standing platform fee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669280" y="29626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 &amp; maintenance plans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0" y="31455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servicing and parts cover, not per repair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5669280" y="339242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price intelligence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669280" y="357530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pricing feeds licensed to suppliers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669280" y="38221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669280" y="40050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shared family baskets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5669280" y="4279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per tier still to be set — annual values [TBC] until tenant and rider counts are agreed.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19 · FUTURE REVENUE MIX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transaction-led to subscription-led as the platform goes agnostic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Diaspora-to-door on TM stock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margin, delivery share and the cross-border surcharge carry the model. One recurring line: Diaspora Priority at US$647,280.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4612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and third retailers onboard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47472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fees, rider plans and garage plans start billing monthly. Transaction fees stay, but stop being the whole story.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AGNOSTIC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of retailers and tuck shops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 across tenants, riders, shoppers and data become the base load; commission rides on top as upside.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1480" y="397764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ecosystem, valued differently: transaction fees fund a project, recurring fees fund a company.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OWNED DELIVERY NETWORK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1148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264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1264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4612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4728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44728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080760" y="2743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81928" y="290779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281928" y="3310128"/>
            <a:ext cx="22494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100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" y="4279392"/>
            <a:ext cx="832104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LOYALTY &amp; DEVICE MIGRATION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" y="29718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31181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0080" y="368503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74720" y="29718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74720" y="31181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474720" y="368503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309360" y="297180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09360" y="31181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09360" y="3685032"/>
            <a:ext cx="2194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PAYMENT RAILS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3666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64608" y="185623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64608" y="2258568"/>
            <a:ext cx="36667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 · WHOLESALE &amp; INFORMAL CHANNEL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94360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706624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818888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20025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931152" y="22860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0896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" y="3291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3438144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40080" y="400507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663440" y="3108960"/>
            <a:ext cx="4069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92040" y="3291840"/>
            <a:ext cx="411480" cy="5486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92040" y="3438144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4892040" y="400507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338328"/>
            <a:ext cx="1225296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20240" y="301752"/>
            <a:ext cx="6263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24 · COMMERCIAL &amp; ENTITY STRUCTURE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0" y="301752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Diaspora-to-Door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6863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68680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264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4728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44728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81928" y="185623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81928" y="2258568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2648" y="313639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2648" y="3538728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64608" y="3136392"/>
            <a:ext cx="3666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864608" y="3538728"/>
            <a:ext cx="3666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49040" y="960120"/>
            <a:ext cx="1645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051560"/>
            <a:ext cx="1463040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7830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57+ branches into a diaspora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2026-08-15T07:41:38Z</dcterms:created>
  <dcterms:modified xsi:type="dcterms:W3CDTF">2026-08-15T07:41:38Z</dcterms:modified>
</cp:coreProperties>
</file>