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206240" y="0"/>
            <a:ext cx="493776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5120640" cy="5143500"/>
          </a:xfrm>
          <a:prstGeom prst="rect">
            <a:avLst/>
          </a:prstGeom>
          <a:solidFill>
            <a:srgbClr val="10243F"/>
          </a:solidFill>
          <a:ln/>
        </p:spPr>
      </p:sp>
      <p:sp>
        <p:nvSpPr>
          <p:cNvPr id="4" name="Shape 1"/>
          <p:cNvSpPr/>
          <p:nvPr/>
        </p:nvSpPr>
        <p:spPr>
          <a:xfrm>
            <a:off x="5120640" y="0"/>
            <a:ext cx="1005840" cy="5143500"/>
          </a:xfrm>
          <a:prstGeom prst="rect">
            <a:avLst/>
          </a:prstGeom>
          <a:solidFill>
            <a:srgbClr val="10243F">
              <a:alpha val="55000"/>
            </a:srgbClr>
          </a:solidFill>
          <a:ln w="12700">
            <a:solidFill>
              <a:srgbClr val="10243F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11480" y="411480"/>
            <a:ext cx="1645920" cy="438912"/>
          </a:xfrm>
          <a:prstGeom prst="roundRect">
            <a:avLst>
              <a:gd name="adj" fmla="val 1458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93776"/>
            <a:ext cx="1463040" cy="28346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11480" y="14630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2B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BOARD PROPOSAL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411480" y="1828800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TM Pick n Pay Express</a:t>
            </a:r>
            <a:endParaRPr lang="en-US" sz="3300" dirty="0"/>
          </a:p>
        </p:txBody>
      </p:sp>
      <p:sp>
        <p:nvSpPr>
          <p:cNvPr id="9" name="Text 5"/>
          <p:cNvSpPr/>
          <p:nvPr/>
        </p:nvSpPr>
        <p:spPr>
          <a:xfrm>
            <a:off x="411480" y="2606040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Evolving Click &amp; Collect into Diaspora-to-Door delivery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411480" y="3429000"/>
            <a:ext cx="1097280" cy="73152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11480" y="37490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the Executive Board · TM Pick n Pay Zimbabwe &amp; Meikles Limited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338328"/>
            <a:ext cx="1225296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920240" y="301752"/>
            <a:ext cx="6263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01 · THE OPPORTUNITY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8229600" y="301752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Diaspora-to-Door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68680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Monetising the digital infrastructure you already own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411480" y="173736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0080" y="1965960"/>
            <a:ext cx="411480" cy="54864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0080" y="2121408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foundation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40080" y="26974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tmpnponline.co.zw and the dedicated app are already live, running localized Click &amp; Collect across the estate.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3200400" y="173736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429000" y="1965960"/>
            <a:ext cx="411480" cy="54864"/>
          </a:xfrm>
          <a:prstGeom prst="roundRect">
            <a:avLst>
              <a:gd name="adj" fmla="val 500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29000" y="2121408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optimization gap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3429000" y="26974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 demands transport, fuel and time. Diaspora buyers still pay Malayitsha vans purely for doorstep convenience.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989320" y="173736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217920" y="1965960"/>
            <a:ext cx="411480" cy="54864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217920" y="2121408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 value proposition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217920" y="26974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Diaspora UI mode plus a decentralised last-mile network turns 57+ branches into on-demand fulfilment nodes.</a:t>
            </a:r>
            <a:endParaRPr lang="en-US" sz="1200" dirty="0"/>
          </a:p>
        </p:txBody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11480" y="3703320"/>
            <a:ext cx="832104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338328"/>
            <a:ext cx="1225296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920240" y="301752"/>
            <a:ext cx="6263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02 · STATUS QUO VS EVOLUTION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8229600" y="301752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Diaspora-to-Door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68680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Bypassing physical logistics friction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411480" y="1783080"/>
            <a:ext cx="83210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0080" y="1984248"/>
            <a:ext cx="146304" cy="146304"/>
          </a:xfrm>
          <a:prstGeom prst="ellipse">
            <a:avLst/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68680" y="1901952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Current system — Click &amp; Collect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40080" y="2331720"/>
            <a:ext cx="1842516" cy="384048"/>
          </a:xfrm>
          <a:prstGeom prst="roundRect">
            <a:avLst>
              <a:gd name="adj" fmla="val 14286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0080" y="2331720"/>
            <a:ext cx="18425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Diaspora shopper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2647188" y="2331720"/>
            <a:ext cx="1842516" cy="384048"/>
          </a:xfrm>
          <a:prstGeom prst="roundRect">
            <a:avLst>
              <a:gd name="adj" fmla="val 14286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647188" y="2331720"/>
            <a:ext cx="18425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/ app order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654296" y="2331720"/>
            <a:ext cx="1842516" cy="384048"/>
          </a:xfrm>
          <a:prstGeom prst="roundRect">
            <a:avLst>
              <a:gd name="adj" fmla="val 14286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654296" y="2331720"/>
            <a:ext cx="18425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Recipient must travel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661404" y="2331720"/>
            <a:ext cx="1842516" cy="384048"/>
          </a:xfrm>
          <a:prstGeom prst="roundRect">
            <a:avLst>
              <a:gd name="adj" fmla="val 14286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661404" y="2331720"/>
            <a:ext cx="18425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 branches only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11480" y="2971800"/>
            <a:ext cx="83210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40080" y="3172968"/>
            <a:ext cx="146304" cy="146304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68680" y="3090672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evolution — On-demand diaspora engine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640080" y="3520440"/>
            <a:ext cx="1441094" cy="384048"/>
          </a:xfrm>
          <a:prstGeom prst="roundRect">
            <a:avLst>
              <a:gd name="adj" fmla="val 14286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40080" y="3520440"/>
            <a:ext cx="14410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Diaspora shopper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2245766" y="3520440"/>
            <a:ext cx="1441094" cy="384048"/>
          </a:xfrm>
          <a:prstGeom prst="roundRect">
            <a:avLst>
              <a:gd name="adj" fmla="val 14286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2245766" y="3520440"/>
            <a:ext cx="14410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Targeted ads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851453" y="3520440"/>
            <a:ext cx="1441094" cy="384048"/>
          </a:xfrm>
          <a:prstGeom prst="roundRect">
            <a:avLst>
              <a:gd name="adj" fmla="val 14286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3851453" y="3520440"/>
            <a:ext cx="14410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US$ gateway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5457139" y="3520440"/>
            <a:ext cx="1441094" cy="384048"/>
          </a:xfrm>
          <a:prstGeom prst="roundRect">
            <a:avLst>
              <a:gd name="adj" fmla="val 14286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457139" y="3520440"/>
            <a:ext cx="14410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Bike courier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7062826" y="3520440"/>
            <a:ext cx="1441094" cy="384048"/>
          </a:xfrm>
          <a:prstGeom prst="roundRect">
            <a:avLst>
              <a:gd name="adj" fmla="val 14286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062826" y="3520440"/>
            <a:ext cx="14410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Recipient's door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11480" y="4160520"/>
            <a:ext cx="4069080" cy="548640"/>
          </a:xfrm>
          <a:prstGeom prst="roundRect">
            <a:avLst>
              <a:gd name="adj" fmla="val 13333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94360" y="4160520"/>
            <a:ext cx="3703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Rural and elderly recipients cannot easily reach a flagship urban branch to collect heavy hampers.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4663440" y="4160520"/>
            <a:ext cx="4069080" cy="548640"/>
          </a:xfrm>
          <a:prstGeom prst="roundRect">
            <a:avLst>
              <a:gd name="adj" fmla="val 13333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4846320" y="4160520"/>
            <a:ext cx="3703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Door-to-door fulfilment adds sponsors who want confirmation that food arrived safely.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02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338328"/>
            <a:ext cx="1225296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920240" y="301752"/>
            <a:ext cx="6263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03 · P&amp;L ASSUMPTIONS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8229600" y="301752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A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Diaspora-to-Door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68680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Monetising every stage of the cross-border basket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411480" y="1783080"/>
            <a:ext cx="1929384" cy="1097280"/>
          </a:xfrm>
          <a:prstGeom prst="roundRect">
            <a:avLst>
              <a:gd name="adj" fmla="val 6667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19202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40,000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594360" y="245059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diaspora customers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523744" y="1783080"/>
            <a:ext cx="1929384" cy="1097280"/>
          </a:xfrm>
          <a:prstGeom prst="roundRect">
            <a:avLst>
              <a:gd name="adj" fmla="val 6667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706624" y="19202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1.5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2706624" y="245059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per month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636008" y="1783080"/>
            <a:ext cx="1929384" cy="1097280"/>
          </a:xfrm>
          <a:prstGeom prst="roundRect">
            <a:avLst>
              <a:gd name="adj" fmla="val 6667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818888" y="19202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US$85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4818888" y="245059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basket size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748272" y="1783080"/>
            <a:ext cx="1929384" cy="1097280"/>
          </a:xfrm>
          <a:prstGeom prst="roundRect">
            <a:avLst>
              <a:gd name="adj" fmla="val 6667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931152" y="19202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6931152" y="245059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411480" y="3063240"/>
            <a:ext cx="8321040" cy="1371600"/>
          </a:xfrm>
          <a:prstGeom prst="roundRect">
            <a:avLst>
              <a:gd name="adj" fmla="val 6667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77240" y="3246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CB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GROSS MERCHANDISE VALUE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77240" y="352044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US$61,200,000</a:t>
            </a:r>
            <a:endParaRPr lang="en-US" sz="3600" dirty="0"/>
          </a:p>
        </p:txBody>
      </p:sp>
      <p:sp>
        <p:nvSpPr>
          <p:cNvPr id="24" name="Text 21"/>
          <p:cNvSpPr/>
          <p:nvPr/>
        </p:nvSpPr>
        <p:spPr>
          <a:xfrm>
            <a:off x="5486400" y="3291840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40,000 customers × 1.5 orders × US$85 × 12 months — migrated from cash remittances and Malayitsha vans into a tracked US$ retail pipeline.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338328"/>
            <a:ext cx="1225296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920240" y="301752"/>
            <a:ext cx="6263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03 · FIVE REVENUE STREAMS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8229600" y="301752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Diaspora-to-Door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68680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stacked revenue streams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411480" y="1783080"/>
            <a:ext cx="26974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19202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Retail product margins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94360" y="222199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captured on goods otherwise bought in South African cash-and-carries. 21% gross margin.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94360" y="26974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01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US$12,852,000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3246120" y="1783080"/>
            <a:ext cx="26974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429000" y="19202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 Last-mile delivery share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3429000" y="222199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US$4.50 fee within 10km; the platform retains US$1.50 net per drop.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3429000" y="26974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01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US$1,080,000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6080760" y="1783080"/>
            <a:ext cx="26974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263640" y="19202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 Cross-border surcharge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263640" y="222199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3% checkout fee on international cards originating outside Zimbabwe.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263640" y="26974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01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US$1,836,000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411480" y="3154680"/>
            <a:ext cx="26974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94360" y="32918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 Diaspora Priority tiers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594360" y="359359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US$8.99/month for free delivery and recurring staple baskets. 15% adoption.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594360" y="40690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01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US$647,280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3246120" y="3154680"/>
            <a:ext cx="26974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3429000" y="32918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5. Retail media network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3429000" y="359359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FMCG brands bid for sponsored placement in front of high-spend diaspora buyers.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3429000" y="40690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01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US$734,400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6080760" y="3154680"/>
            <a:ext cx="2697480" cy="1234440"/>
          </a:xfrm>
          <a:prstGeom prst="roundRect">
            <a:avLst>
              <a:gd name="adj" fmla="val 5926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263640" y="333756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2B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ECOSYSTEM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6263640" y="361188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US$17,149,680</a:t>
            </a:r>
            <a:endParaRPr lang="en-US" sz="2200" dirty="0"/>
          </a:p>
        </p:txBody>
      </p:sp>
      <p:sp>
        <p:nvSpPr>
          <p:cNvPr id="32" name="Text 29"/>
          <p:cNvSpPr/>
          <p:nvPr/>
        </p:nvSpPr>
        <p:spPr>
          <a:xfrm>
            <a:off x="6263640" y="405079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annual revenue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338328"/>
            <a:ext cx="1225296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920240" y="301752"/>
            <a:ext cx="6263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04 · REVENUE BREAKDOWN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8229600" y="301752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Diaspora-to-Door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68680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Projected total ecosystem annual revenue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411480" y="148132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01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US$17,149,680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411480" y="201168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retail margins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11480" y="223113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21% gross retail margin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3291840" y="2103120"/>
            <a:ext cx="3977640" cy="274320"/>
          </a:xfrm>
          <a:prstGeom prst="roundRect">
            <a:avLst>
              <a:gd name="adj" fmla="val 50000"/>
            </a:avLst>
          </a:prstGeom>
          <a:solidFill>
            <a:srgbClr val="E7EAF0"/>
          </a:solidFill>
          <a:ln w="12700">
            <a:solidFill>
              <a:srgbClr val="E7EA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91840" y="2103120"/>
            <a:ext cx="3977640" cy="274320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406640" y="2084832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US$12,852,000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411480" y="251460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Last-mile delivery share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11480" y="273405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US$1.50 net per drop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3291840" y="2606040"/>
            <a:ext cx="3977640" cy="274320"/>
          </a:xfrm>
          <a:prstGeom prst="roundRect">
            <a:avLst>
              <a:gd name="adj" fmla="val 50000"/>
            </a:avLst>
          </a:prstGeom>
          <a:solidFill>
            <a:srgbClr val="E7EAF0"/>
          </a:solidFill>
          <a:ln w="12700">
            <a:solidFill>
              <a:srgbClr val="E7EAF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291840" y="2606040"/>
            <a:ext cx="334255" cy="274320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406640" y="2587752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US$1,080,000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411480" y="30175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Cross-border tech surcharge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411480" y="323697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3% on international cards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3291840" y="3108960"/>
            <a:ext cx="3977640" cy="274320"/>
          </a:xfrm>
          <a:prstGeom prst="roundRect">
            <a:avLst>
              <a:gd name="adj" fmla="val 50000"/>
            </a:avLst>
          </a:prstGeom>
          <a:solidFill>
            <a:srgbClr val="E7EAF0"/>
          </a:solidFill>
          <a:ln w="12700">
            <a:solidFill>
              <a:srgbClr val="E7EAF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3291840" y="3108960"/>
            <a:ext cx="568234" cy="274320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406640" y="3090672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US$1,836,000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411480" y="35204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Diaspora Priority subscriptions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11480" y="373989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6,000 subscribers @ US$8.99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3291840" y="3611880"/>
            <a:ext cx="3977640" cy="274320"/>
          </a:xfrm>
          <a:prstGeom prst="roundRect">
            <a:avLst>
              <a:gd name="adj" fmla="val 50000"/>
            </a:avLst>
          </a:prstGeom>
          <a:solidFill>
            <a:srgbClr val="E7EAF0"/>
          </a:solidFill>
          <a:ln w="12700">
            <a:solidFill>
              <a:srgbClr val="E7EAF0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3291840" y="3611880"/>
            <a:ext cx="320040" cy="274320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406640" y="3593592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US$647,280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411480" y="402336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Supplier-funded retail media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11480" y="424281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1.2% of platform GMV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3291840" y="4114800"/>
            <a:ext cx="3977640" cy="274320"/>
          </a:xfrm>
          <a:prstGeom prst="roundRect">
            <a:avLst>
              <a:gd name="adj" fmla="val 50000"/>
            </a:avLst>
          </a:prstGeom>
          <a:solidFill>
            <a:srgbClr val="E7EAF0"/>
          </a:solidFill>
          <a:ln w="12700">
            <a:solidFill>
              <a:srgbClr val="E7EAF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3291840" y="4114800"/>
            <a:ext cx="320040" cy="274320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406640" y="4096512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US$734,400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338328"/>
            <a:ext cx="1225296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920240" y="301752"/>
            <a:ext cx="6263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05 · BUSINESS MODEL OPTIONS 1–2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8229600" y="301752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Diaspora-to-Door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68680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Aligning risk, capital and structure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411480" y="1737360"/>
            <a:ext cx="4023360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12648" y="1883664"/>
            <a:ext cx="868680" cy="256032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12648" y="188366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1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1554480" y="184708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Concierge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612648" y="2240280"/>
            <a:ext cx="36393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operate as a standalone entity mirroring your catalog via API. Senders pay us in US$; we buy stock at a negotiated wholesale discount and fulfil with our own driver network.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612648" y="3566160"/>
            <a:ext cx="1170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612648" y="3749040"/>
            <a:ext cx="1170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US$15,000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828800" y="3566160"/>
            <a:ext cx="1170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1828800" y="3749040"/>
            <a:ext cx="1170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US$8,500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3044952" y="3566160"/>
            <a:ext cx="1170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3044952" y="3749040"/>
            <a:ext cx="1170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5–8% markup + 3–5% rebate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709160" y="1737360"/>
            <a:ext cx="4023360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910328" y="1883664"/>
            <a:ext cx="868680" cy="256032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910328" y="188366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2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5852160" y="184708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White-Label Licensing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4910328" y="2240280"/>
            <a:ext cx="36393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build the cross-border storefront extension and license it to TM PnP. It integrates into tmpnponline.co.zw, natively branded, fulfilled by third-party Zimbabwean couriers.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4910328" y="3566160"/>
            <a:ext cx="1170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4910328" y="3749040"/>
            <a:ext cx="1170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US$25,000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6126480" y="3566160"/>
            <a:ext cx="1170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6126480" y="3749040"/>
            <a:ext cx="1170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US$2,000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7342632" y="3566160"/>
            <a:ext cx="1170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7342632" y="3749040"/>
            <a:ext cx="1170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US$40k + US$3.5k/mo or 1.5–2% GMV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338328"/>
            <a:ext cx="1225296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920240" y="301752"/>
            <a:ext cx="6263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05 · BUSINESS MODEL OPTIONS 3–4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8229600" y="301752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Diaspora-to-Door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68680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Partnership and hybrid structures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411480" y="1737360"/>
            <a:ext cx="4023360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12648" y="1883664"/>
            <a:ext cx="868680" cy="256032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12648" y="188366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3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1554480" y="184708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Tripartite Joint Venture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612648" y="2240280"/>
            <a:ext cx="36393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PnP + Quatrohaus / Code Virtus + our firm. We provide the cross-border framework, payment tunnels and diaspora marketing; branch staff pick, third-party bike networks deliver.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612648" y="3566160"/>
            <a:ext cx="1170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612648" y="3749040"/>
            <a:ext cx="1170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US$5,000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828800" y="3566160"/>
            <a:ext cx="1170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1828800" y="3749040"/>
            <a:ext cx="1170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Absorbed in IT budget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3044952" y="3566160"/>
            <a:ext cx="1170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3044952" y="3749040"/>
            <a:ext cx="1170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/ 20 / 20 net profit split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709160" y="1737360"/>
            <a:ext cx="4023360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910328" y="1883664"/>
            <a:ext cx="868680" cy="256032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910328" y="188366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4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5852160" y="184708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Remittance Tokens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4910328" y="2240280"/>
            <a:ext cx="36393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Diaspora shoppers buy a US$ Eco-Voucher: auto-dispatch a staple hamper by bike courier, or push a secure barcode via SMS/WhatsApp for in-store redemption, bypassing cash-out queues.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4910328" y="3566160"/>
            <a:ext cx="1170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4910328" y="3749040"/>
            <a:ext cx="1170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US$10,000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6126480" y="3566160"/>
            <a:ext cx="1170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6126480" y="3749040"/>
            <a:ext cx="1170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US$3,000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7342632" y="3566160"/>
            <a:ext cx="1170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7342632" y="3749040"/>
            <a:ext cx="1170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4–6% commission + float yield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02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338328"/>
            <a:ext cx="1225296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920240" y="301752"/>
            <a:ext cx="6263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06 · CONFIGURATION MATRIX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8229600" y="301752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A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Diaspora-to-Door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68680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Commercial model comparison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783080"/>
          <a:ext cx="83210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645920"/>
                <a:gridCol w="1645920"/>
                <a:gridCol w="164592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Metric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1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1 · Reseller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1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2 · White-Label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1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3 · Joint Venture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1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4 · Voucher Hybrid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10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2B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Upfront capital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US$15,000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US$25,000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US$5,000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US$10,000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2B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Operational effort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Extremely high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Very low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(oversight)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4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2B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to market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3–4 months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4–5 months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1–2 months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months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2B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revenue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 markups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Licensing fees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profit pool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Commission + float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4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2B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TM PnP risk tier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 risk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Technology buyer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Co-owner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Channel partner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338328"/>
            <a:ext cx="1225296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920240" y="301752"/>
            <a:ext cx="6263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07 · CRITICAL INTEGRATIONS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8229600" y="301752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Diaspora-to-Door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68680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Building beyond the current platform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411480" y="157276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new components layer over the existing web framework.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11480" y="1965960"/>
            <a:ext cx="265176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40080" y="2194560"/>
            <a:ext cx="411480" cy="54864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0080" y="2350008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Geo-fenced marketing core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40080" y="29260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Hyper-targeted social and digital advertising aimed at high-density Zimbabwean pockets — Hillbrow and Randburg in South Africa, London and Leeds in the UK.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3246120" y="1965960"/>
            <a:ext cx="265176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474720" y="2194560"/>
            <a:ext cx="411480" cy="54864"/>
          </a:xfrm>
          <a:prstGeom prst="roundRect">
            <a:avLst>
              <a:gd name="adj" fmla="val 500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474720" y="2350008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API logistics middleware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474720" y="29260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dispatch interface linking the TM PnP back-end to localized courier networks and on-demand e-bike fleets for route optimisation and proof of delivery.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080760" y="1965960"/>
            <a:ext cx="265176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309360" y="2194560"/>
            <a:ext cx="411480" cy="54864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309360" y="2350008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Real-time substitution logic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309360" y="29260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automated WhatsApp bot lets the sender or recipient approve alternatives instantly when an item goes out of stock during picking.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A50C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37760" y="0"/>
            <a:ext cx="420624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5486400" cy="5143500"/>
          </a:xfrm>
          <a:prstGeom prst="rect">
            <a:avLst/>
          </a:prstGeom>
          <a:solidFill>
            <a:srgbClr val="A50C2D"/>
          </a:solidFill>
          <a:ln/>
        </p:spPr>
      </p:sp>
      <p:sp>
        <p:nvSpPr>
          <p:cNvPr id="4" name="Shape 1"/>
          <p:cNvSpPr/>
          <p:nvPr/>
        </p:nvSpPr>
        <p:spPr>
          <a:xfrm>
            <a:off x="411480" y="27432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" y="338328"/>
            <a:ext cx="1225296" cy="237744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920240" y="301752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08 · FIRST-MOVER ADVANTAGE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4892040" y="301752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A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41148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Diaspora-to-Door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411480" y="868680"/>
            <a:ext cx="4846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defensive moat against OK Zimbabwe &amp; Choppies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411480" y="1783080"/>
            <a:ext cx="4846320" cy="1234440"/>
          </a:xfrm>
          <a:prstGeom prst="roundRect">
            <a:avLst>
              <a:gd name="adj" fmla="val 5926"/>
            </a:avLst>
          </a:prstGeom>
          <a:solidFill>
            <a:srgbClr val="C21740"/>
          </a:solidFill>
          <a:ln w="12700">
            <a:solidFill>
              <a:srgbClr val="C2174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21792" y="1947672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21792" y="194767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50C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leadership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621792" y="2313432"/>
            <a:ext cx="4434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competitors stay focused on brick-and-mortar or basic localized delivery, TM PnP becomes the definitive cross-border retail pipeline for the diaspora ecosystem.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411480" y="3154680"/>
            <a:ext cx="4846320" cy="1234440"/>
          </a:xfrm>
          <a:prstGeom prst="roundRect">
            <a:avLst>
              <a:gd name="adj" fmla="val 5926"/>
            </a:avLst>
          </a:prstGeom>
          <a:solidFill>
            <a:srgbClr val="C21740"/>
          </a:solidFill>
          <a:ln w="12700">
            <a:solidFill>
              <a:srgbClr val="C2174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21792" y="3319272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21792" y="331927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50C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Maximising group assets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621792" y="3685032"/>
            <a:ext cx="4434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 desks convert into high-volume dispatch stations, lifting stock turnover speed across all primary product lines.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338328"/>
            <a:ext cx="1225296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920240" y="301752"/>
            <a:ext cx="6263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09 · VALUE PROPOSITION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8229600" y="301752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Diaspora-to-Door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68680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platform uniquely delivers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411480" y="1645920"/>
            <a:ext cx="201168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94360" y="1810512"/>
            <a:ext cx="365760" cy="50292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4360" y="193852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White-label solution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594360" y="2322576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Customizable platform retailers brand as their own, with flexible commercial models — subscription or commission-based.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2642616" y="1645920"/>
            <a:ext cx="201168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825496" y="1810512"/>
            <a:ext cx="365760" cy="50292"/>
          </a:xfrm>
          <a:prstGeom prst="roundRect">
            <a:avLst>
              <a:gd name="adj" fmla="val 54545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825496" y="193852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Time-to-market advantage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2825496" y="2322576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Leverage existing integrations (API, SIM switch, payments) to launch quickly and capture customers before competitors.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4873752" y="1645920"/>
            <a:ext cx="201168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056632" y="1810512"/>
            <a:ext cx="365760" cy="50292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056632" y="193852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Robust and secure platform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5056632" y="2322576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reliable, scalable and secure system compared to informal, unregulated channels.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7104888" y="1645920"/>
            <a:ext cx="201168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287768" y="1810512"/>
            <a:ext cx="365760" cy="50292"/>
          </a:xfrm>
          <a:prstGeom prst="roundRect">
            <a:avLst>
              <a:gd name="adj" fmla="val 54545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287768" y="193852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Bank-agnostic integration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7287768" y="2322576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Participation across multiple banks, expanding reach and customer access.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411480" y="3163824"/>
            <a:ext cx="201168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94360" y="3328416"/>
            <a:ext cx="365760" cy="50292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94360" y="345643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Critical mass creation</a:t>
            </a:r>
            <a:endParaRPr lang="en-US" sz="1150" dirty="0"/>
          </a:p>
        </p:txBody>
      </p:sp>
      <p:sp>
        <p:nvSpPr>
          <p:cNvPr id="28" name="Text 25"/>
          <p:cNvSpPr/>
          <p:nvPr/>
        </p:nvSpPr>
        <p:spPr>
          <a:xfrm>
            <a:off x="594360" y="3840480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in building user adoption through partnerships with banks and diaspora communities.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2642616" y="3163824"/>
            <a:ext cx="201168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2825496" y="3328416"/>
            <a:ext cx="365760" cy="50292"/>
          </a:xfrm>
          <a:prstGeom prst="roundRect">
            <a:avLst>
              <a:gd name="adj" fmla="val 54545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2825496" y="345643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Hybrid commercial model</a:t>
            </a:r>
            <a:endParaRPr lang="en-US" sz="1150" dirty="0"/>
          </a:p>
        </p:txBody>
      </p:sp>
      <p:sp>
        <p:nvSpPr>
          <p:cNvPr id="32" name="Text 29"/>
          <p:cNvSpPr/>
          <p:nvPr/>
        </p:nvSpPr>
        <p:spPr>
          <a:xfrm>
            <a:off x="2825496" y="3840480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fees, subscription or discounts — flexibility for different business strategies.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4873752" y="3163824"/>
            <a:ext cx="201168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056632" y="3328416"/>
            <a:ext cx="365760" cy="50292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056632" y="345643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Adaptability to market dynamics</a:t>
            </a:r>
            <a:endParaRPr lang="en-US" sz="1150" dirty="0"/>
          </a:p>
        </p:txBody>
      </p:sp>
      <p:sp>
        <p:nvSpPr>
          <p:cNvPr id="36" name="Text 33"/>
          <p:cNvSpPr/>
          <p:nvPr/>
        </p:nvSpPr>
        <p:spPr>
          <a:xfrm>
            <a:off x="5056632" y="3840480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to adjust pricing, packaging and delivery models as consumer behaviour shifts.</a:t>
            </a:r>
            <a:endParaRPr lang="en-US" sz="850" dirty="0"/>
          </a:p>
        </p:txBody>
      </p:sp>
      <p:sp>
        <p:nvSpPr>
          <p:cNvPr id="37" name="Shape 34"/>
          <p:cNvSpPr/>
          <p:nvPr/>
        </p:nvSpPr>
        <p:spPr>
          <a:xfrm>
            <a:off x="7104888" y="3163824"/>
            <a:ext cx="201168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7287768" y="3328416"/>
            <a:ext cx="365760" cy="50292"/>
          </a:xfrm>
          <a:prstGeom prst="roundRect">
            <a:avLst>
              <a:gd name="adj" fmla="val 54545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7287768" y="345643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Direct-to-Consumer</a:t>
            </a:r>
            <a:endParaRPr lang="en-US" sz="1150" dirty="0"/>
          </a:p>
        </p:txBody>
      </p:sp>
      <p:sp>
        <p:nvSpPr>
          <p:cNvPr id="40" name="Text 37"/>
          <p:cNvSpPr/>
          <p:nvPr/>
        </p:nvSpPr>
        <p:spPr>
          <a:xfrm>
            <a:off x="7287768" y="3840480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beyond brick-and-mortar retail into a direct relationship with the shopper.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02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338328"/>
            <a:ext cx="1225296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920240" y="301752"/>
            <a:ext cx="6263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10 · BENEFITS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8229600" y="301752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A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Diaspora-to-Door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68680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Benefits to TM Pick n Pay and the market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411480" y="1627632"/>
            <a:ext cx="2724912" cy="658368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76072" y="1773936"/>
            <a:ext cx="109728" cy="109728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1719072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Faster market entry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77240" y="1938528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developer integrations accelerate rollout.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3300984" y="1627632"/>
            <a:ext cx="2724912" cy="658368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465576" y="1773936"/>
            <a:ext cx="109728" cy="109728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666744" y="1719072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Customer convenience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3666744" y="1938528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shift lets diaspora and local customers buy from anywhere.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190488" y="1627632"/>
            <a:ext cx="2724912" cy="658368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355080" y="1773936"/>
            <a:ext cx="109728" cy="109728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556248" y="1719072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Expanded customer base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6556248" y="1938528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Diaspora markets plus multiple banks' captured audiences.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411480" y="2377440"/>
            <a:ext cx="2724912" cy="658368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76072" y="2523744"/>
            <a:ext cx="109728" cy="109728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77240" y="2468880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Replacement of informal trading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777240" y="2688336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legitimate, tax-compliant alternative to unreliable channels.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3300984" y="2377440"/>
            <a:ext cx="2724912" cy="658368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465576" y="2523744"/>
            <a:ext cx="109728" cy="109728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666744" y="2468880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Cross-border resilience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3666744" y="2688336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Bypasses constraints on physical goods movement between countries.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6190488" y="2377440"/>
            <a:ext cx="2724912" cy="658368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355080" y="2523744"/>
            <a:ext cx="109728" cy="109728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556248" y="2468880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Economies of scale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556248" y="2688336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prices and smaller packages matched to consumer cash flow.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411480" y="3127248"/>
            <a:ext cx="2724912" cy="658368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76072" y="3273552"/>
            <a:ext cx="109728" cy="109728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77240" y="3218688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Increased loyalty &amp; retention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777240" y="3438144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Secure, reliable delivery builds trust vs informal traders.</a:t>
            </a:r>
            <a:endParaRPr lang="en-US" sz="850" dirty="0"/>
          </a:p>
        </p:txBody>
      </p:sp>
      <p:sp>
        <p:nvSpPr>
          <p:cNvPr id="37" name="Shape 34"/>
          <p:cNvSpPr/>
          <p:nvPr/>
        </p:nvSpPr>
        <p:spPr>
          <a:xfrm>
            <a:off x="3300984" y="3127248"/>
            <a:ext cx="2724912" cy="658368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3465576" y="3273552"/>
            <a:ext cx="109728" cy="109728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3666744" y="3218688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Revenue diversification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3666744" y="3438144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Subscriptions, fees or discounts plus wholesale partnerships.</a:t>
            </a:r>
            <a:endParaRPr lang="en-US" sz="850" dirty="0"/>
          </a:p>
        </p:txBody>
      </p:sp>
      <p:sp>
        <p:nvSpPr>
          <p:cNvPr id="41" name="Shape 38"/>
          <p:cNvSpPr/>
          <p:nvPr/>
        </p:nvSpPr>
        <p:spPr>
          <a:xfrm>
            <a:off x="6190488" y="3127248"/>
            <a:ext cx="2724912" cy="658368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6355080" y="3273552"/>
            <a:ext cx="109728" cy="109728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6556248" y="3218688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Scalability</a:t>
            </a:r>
            <a:endParaRPr lang="en-US" sz="1050" dirty="0"/>
          </a:p>
        </p:txBody>
      </p:sp>
      <p:sp>
        <p:nvSpPr>
          <p:cNvPr id="44" name="Text 41"/>
          <p:cNvSpPr/>
          <p:nvPr/>
        </p:nvSpPr>
        <p:spPr>
          <a:xfrm>
            <a:off x="6556248" y="3438144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expansion with packaging adapted to local needs.</a:t>
            </a:r>
            <a:endParaRPr lang="en-US" sz="850" dirty="0"/>
          </a:p>
        </p:txBody>
      </p:sp>
      <p:sp>
        <p:nvSpPr>
          <p:cNvPr id="45" name="Shape 42"/>
          <p:cNvSpPr/>
          <p:nvPr/>
        </p:nvSpPr>
        <p:spPr>
          <a:xfrm>
            <a:off x="411480" y="3877056"/>
            <a:ext cx="2724912" cy="658368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576072" y="4023360"/>
            <a:ext cx="109728" cy="109728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777240" y="3968496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Convenience-driven adoption</a:t>
            </a:r>
            <a:endParaRPr lang="en-US" sz="1050" dirty="0"/>
          </a:p>
        </p:txBody>
      </p:sp>
      <p:sp>
        <p:nvSpPr>
          <p:cNvPr id="48" name="Text 45"/>
          <p:cNvSpPr/>
          <p:nvPr/>
        </p:nvSpPr>
        <p:spPr>
          <a:xfrm>
            <a:off x="777240" y="4187952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daily-use packages fit township and village habits.</a:t>
            </a:r>
            <a:endParaRPr lang="en-US" sz="850" dirty="0"/>
          </a:p>
        </p:txBody>
      </p:sp>
      <p:sp>
        <p:nvSpPr>
          <p:cNvPr id="49" name="Shape 46"/>
          <p:cNvSpPr/>
          <p:nvPr/>
        </p:nvSpPr>
        <p:spPr>
          <a:xfrm>
            <a:off x="3300984" y="3877056"/>
            <a:ext cx="2724912" cy="658368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3465576" y="4023360"/>
            <a:ext cx="109728" cy="109728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3666744" y="3968496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Government alignment</a:t>
            </a:r>
            <a:endParaRPr lang="en-US" sz="1050" dirty="0"/>
          </a:p>
        </p:txBody>
      </p:sp>
      <p:sp>
        <p:nvSpPr>
          <p:cNvPr id="52" name="Text 49"/>
          <p:cNvSpPr/>
          <p:nvPr/>
        </p:nvSpPr>
        <p:spPr>
          <a:xfrm>
            <a:off x="3666744" y="4187952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Formalized trade supports taxation and regulation.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338328"/>
            <a:ext cx="1225296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920240" y="301752"/>
            <a:ext cx="6263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14 · WHY NOW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8229600" y="301752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Diaspora-to-Door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68680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Sell market access and intelligence — not “a diaspora solution”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411480" y="1691640"/>
            <a:ext cx="4041648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0080" y="1920240"/>
            <a:ext cx="411480" cy="54864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0080" y="2075688"/>
            <a:ext cx="35844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Brick-and-mortar is no longer defensible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40080" y="2651760"/>
            <a:ext cx="3584448" cy="-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Footfall retail cannot hold share on its own. The defensible asset is the customer relationship, not the store estate.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690872" y="1691640"/>
            <a:ext cx="4041648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919472" y="1920240"/>
            <a:ext cx="411480" cy="54864"/>
          </a:xfrm>
          <a:prstGeom prst="roundRect">
            <a:avLst>
              <a:gd name="adj" fmla="val 500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919472" y="2075688"/>
            <a:ext cx="35844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Buyers are price-led, not brand-led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4919472" y="2651760"/>
            <a:ext cx="3584448" cy="-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Households shop the cheapest basket available on the day. Informal channels are winning that comparison by default.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1480" y="2926080"/>
            <a:ext cx="4041648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40080" y="3154680"/>
            <a:ext cx="411480" cy="54864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" y="3310128"/>
            <a:ext cx="35844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Malayitsha channel is being constricted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40080" y="3886200"/>
            <a:ext cx="3584448" cy="-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One-stop border posts, electronic travel authority and tighter vehicle declarations are squeezing the informal cross-border van trade.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4690872" y="2926080"/>
            <a:ext cx="4041648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919472" y="3154680"/>
            <a:ext cx="411480" cy="54864"/>
          </a:xfrm>
          <a:prstGeom prst="roundRect">
            <a:avLst>
              <a:gd name="adj" fmla="val 500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919472" y="3310128"/>
            <a:ext cx="35844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opening left behind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4919472" y="3886200"/>
            <a:ext cx="3584448" cy="-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Diaspora funding + bank rails + owned delivery + wholesale into the informal channel — a brand that lives in people's homes.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411480" y="4206240"/>
            <a:ext cx="8321040" cy="566928"/>
          </a:xfrm>
          <a:prstGeom prst="roundRect">
            <a:avLst>
              <a:gd name="adj" fmla="val 12903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40080" y="420624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Positioning discipline: the pitch is market access and demand intelligence. Framed as a diaspora product, it reads as a niche remittance play and stalls in committee.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2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338328"/>
            <a:ext cx="1225296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920240" y="301752"/>
            <a:ext cx="6263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15 · DOWNSTREAM INNOVATION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8229600" y="301752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A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Diaspora-to-Door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68680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end state is a trading platform, not a single-retailer app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411480" y="169164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12648" y="1847088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12648" y="184708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· Entry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612648" y="2212848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TM Pick n Pay value-add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612648" y="2596896"/>
            <a:ext cx="224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Single-tenant. TM branded, TM catalogue, TM fulfilment. The platform earns its place inside one retailer before anything else is discussed.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3246120" y="169164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447288" y="1847088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447288" y="184708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Depth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3447288" y="2212848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Wholesale and informal channel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3447288" y="2596896"/>
            <a:ext cx="224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supplies tuck shops and repackagers through the same rails. Volume grows without adding a competing banner to the storefront.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6080760" y="169164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281928" y="1847088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281928" y="184708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· End state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6281928" y="2212848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Retail-agnostic trading platform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6281928" y="2596896"/>
            <a:ext cx="224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 asks for cooking oil; the request goes to every participating supplier and the best price wins. Retailers become suppliers on a marketplace.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411480" y="3703320"/>
            <a:ext cx="4069080" cy="960120"/>
          </a:xfrm>
          <a:prstGeom prst="roundRect">
            <a:avLst>
              <a:gd name="adj" fmla="val 7619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21792" y="370332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has already been prototyped — three banners running in one app — then deliberately pulled back to a single tenant for the entry conversation.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4663440" y="3703320"/>
            <a:ext cx="4069080" cy="960120"/>
          </a:xfrm>
          <a:prstGeom prst="roundRect">
            <a:avLst>
              <a:gd name="adj" fmla="val 7619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873752" y="370332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Sequencing is the safeguard: introduce the platform as a TM advantage, without signalling that competitors sit on the same rails on day one.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338328"/>
            <a:ext cx="1225296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920240" y="301752"/>
            <a:ext cx="6263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16 · PRICE COMPARISON ENGINE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8229600" y="301752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Diaspora-to-Door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68680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Item-level price comparison is the reason to participate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411480" y="1691640"/>
            <a:ext cx="4572000" cy="2971800"/>
          </a:xfrm>
          <a:prstGeom prst="roundRect">
            <a:avLst>
              <a:gd name="adj" fmla="val 2462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84708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 REQUEST · “COOKING OIL”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640080" y="2194560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258568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A · 2L cooking oil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822960" y="246888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price · 2.1km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3520440" y="2194560"/>
            <a:ext cx="1051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US$3.10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40080" y="2798064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2960" y="286207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B · 2L cooking oil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822960" y="307238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slot · 0.8km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3520440" y="2798064"/>
            <a:ext cx="1051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6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US$3.45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640080" y="3401568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22960" y="3465576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C · 2L cooking oil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822960" y="367588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 offer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3520440" y="3401568"/>
            <a:ext cx="1051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6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US$3.60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640080" y="4005072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2960" y="406908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Tuck shop · 500ml repack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822960" y="4279392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fulfilment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3520440" y="4005072"/>
            <a:ext cx="1051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6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US$0.95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5166360" y="1691640"/>
            <a:ext cx="35661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394960" y="1920240"/>
            <a:ext cx="411480" cy="54864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394960" y="2075688"/>
            <a:ext cx="3108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Comparison across every participating supplier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5394960" y="265176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request fans out to all listed suppliers. The shopper sees price, distance and slot side by side and picks. Price competition, not shelf position, decides the sale.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166360" y="3246120"/>
            <a:ext cx="35661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394960" y="3474720"/>
            <a:ext cx="411480" cy="54864"/>
          </a:xfrm>
          <a:prstGeom prst="roundRect">
            <a:avLst>
              <a:gd name="adj" fmla="val 500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394960" y="3630168"/>
            <a:ext cx="3108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ranking of most-tradable items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5394960" y="420624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 ranks demand by item, area and week — a what-to-stock signal feeding order-to-cash: buy the right depth, in the right pack size, before the demand lands.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A50C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338328"/>
            <a:ext cx="1225296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920240" y="301752"/>
            <a:ext cx="6263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17 · THE REVENUE MODEL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8229600" y="301752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A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Diaspora-to-Door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68680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Anything that allows a subscription is the model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411480" y="1691640"/>
            <a:ext cx="2651760" cy="1078992"/>
          </a:xfrm>
          <a:prstGeom prst="roundRect">
            <a:avLst>
              <a:gd name="adj" fmla="val 6780"/>
            </a:avLst>
          </a:prstGeom>
          <a:solidFill>
            <a:srgbClr val="C21740"/>
          </a:solidFill>
          <a:ln w="12700">
            <a:solidFill>
              <a:srgbClr val="C2174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12648" y="1856232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Rider fees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12648" y="2258568"/>
            <a:ext cx="22494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Scooter rent-to-buy instalments, then a standing platform fee per dollar earned.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246120" y="1691640"/>
            <a:ext cx="2651760" cy="1078992"/>
          </a:xfrm>
          <a:prstGeom prst="roundRect">
            <a:avLst>
              <a:gd name="adj" fmla="val 6780"/>
            </a:avLst>
          </a:prstGeom>
          <a:solidFill>
            <a:srgbClr val="C21740"/>
          </a:solidFill>
          <a:ln w="12700">
            <a:solidFill>
              <a:srgbClr val="C2174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447288" y="1856232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Advertising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3447288" y="2258568"/>
            <a:ext cx="22494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Scooter livery, in-app placement and supplier media sold as monthly inventory.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080760" y="1691640"/>
            <a:ext cx="2651760" cy="1078992"/>
          </a:xfrm>
          <a:prstGeom prst="roundRect">
            <a:avLst>
              <a:gd name="adj" fmla="val 6780"/>
            </a:avLst>
          </a:prstGeom>
          <a:solidFill>
            <a:srgbClr val="C21740"/>
          </a:solidFill>
          <a:ln w="12700">
            <a:solidFill>
              <a:srgbClr val="C2174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281928" y="1856232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Garage services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281928" y="2258568"/>
            <a:ext cx="22494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Servicing, parts and accessories on a maintenance plan, not a per-repair invoice.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11480" y="2880360"/>
            <a:ext cx="2651760" cy="1078992"/>
          </a:xfrm>
          <a:prstGeom prst="roundRect">
            <a:avLst>
              <a:gd name="adj" fmla="val 6780"/>
            </a:avLst>
          </a:prstGeom>
          <a:solidFill>
            <a:srgbClr val="C21740"/>
          </a:solidFill>
          <a:ln w="12700">
            <a:solidFill>
              <a:srgbClr val="C2174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12648" y="3044952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Tenant fees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12648" y="3447288"/>
            <a:ext cx="22494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retailer, wholesaler and tuck shop pays a tiered monthly platform fee.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3246120" y="2880360"/>
            <a:ext cx="2651760" cy="1078992"/>
          </a:xfrm>
          <a:prstGeom prst="roundRect">
            <a:avLst>
              <a:gd name="adj" fmla="val 6780"/>
            </a:avLst>
          </a:prstGeom>
          <a:solidFill>
            <a:srgbClr val="C21740"/>
          </a:solidFill>
          <a:ln w="12700">
            <a:solidFill>
              <a:srgbClr val="C2174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447288" y="3044952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Shopper plans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3447288" y="3447288"/>
            <a:ext cx="22494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delivery and family basket sharing on a recurring plan.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080760" y="2880360"/>
            <a:ext cx="2651760" cy="1078992"/>
          </a:xfrm>
          <a:prstGeom prst="roundRect">
            <a:avLst>
              <a:gd name="adj" fmla="val 6780"/>
            </a:avLst>
          </a:prstGeom>
          <a:solidFill>
            <a:srgbClr val="C21740"/>
          </a:solidFill>
          <a:ln w="12700">
            <a:solidFill>
              <a:srgbClr val="C2174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281928" y="3044952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products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6281928" y="3447288"/>
            <a:ext cx="22494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and price intelligence licensed by subscription to suppliers.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411480" y="4160520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line above is bent toward recurring revenue. One-off transaction fees fund a project; recurring fees fund a company and give the valuation a base to stand on.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02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338328"/>
            <a:ext cx="1225296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920240" y="301752"/>
            <a:ext cx="6263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18 · OWNED DELIVERY NETWORK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8229600" y="301752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A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Diaspora-to-Door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68680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last mile is owned, not outsourced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411480" y="1645920"/>
            <a:ext cx="1929384" cy="960120"/>
          </a:xfrm>
          <a:prstGeom prst="roundRect">
            <a:avLst>
              <a:gd name="adj" fmla="val 7619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173736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500–2,000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594360" y="214884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Platform-owned electric scooters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523744" y="1645920"/>
            <a:ext cx="1929384" cy="960120"/>
          </a:xfrm>
          <a:prstGeom prst="roundRect">
            <a:avLst>
              <a:gd name="adj" fmla="val 7619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706624" y="173736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 months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2706624" y="214884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Rent-to-buy, then the rider owns it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4636008" y="1645920"/>
            <a:ext cx="1929384" cy="960120"/>
          </a:xfrm>
          <a:prstGeom prst="roundRect">
            <a:avLst>
              <a:gd name="adj" fmla="val 7619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818888" y="173736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~5 months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4818888" y="214884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pays itself back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6748272" y="1645920"/>
            <a:ext cx="1929384" cy="960120"/>
          </a:xfrm>
          <a:prstGeom prst="roundRect">
            <a:avLst>
              <a:gd name="adj" fmla="val 7619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931152" y="173736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~10%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6931152" y="214884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fee per dollar earned after ownership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11480" y="2743200"/>
            <a:ext cx="2651760" cy="1417320"/>
          </a:xfrm>
          <a:prstGeom prst="roundRect">
            <a:avLst>
              <a:gd name="adj" fmla="val 5161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12648" y="2907792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Rent-to-buy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612648" y="3310128"/>
            <a:ext cx="22494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rider operates for twelve months and then owns the scooter. The asset repays itself in roughly five months; months six to twelve are margin.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3246120" y="2743200"/>
            <a:ext cx="2651760" cy="1417320"/>
          </a:xfrm>
          <a:prstGeom prst="roundRect">
            <a:avLst>
              <a:gd name="adj" fmla="val 5161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3447288" y="2907792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Advertising rights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3447288" y="3310128"/>
            <a:ext cx="22494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Livery is sold on subscription: 80% reserved for the anchor retailer, 20% open inventory. A moving media network across every delivery route.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6080760" y="2743200"/>
            <a:ext cx="2651760" cy="1417320"/>
          </a:xfrm>
          <a:prstGeom prst="roundRect">
            <a:avLst>
              <a:gd name="adj" fmla="val 5161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281928" y="2907792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Own the garage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6281928" y="3310128"/>
            <a:ext cx="22494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Repairs, parts and accessories stay inside the platform on a maintenance plan. Electric tricycles extend the fleet into rural routes, with women riders as the first cohort.</a:t>
            </a:r>
            <a:endParaRPr lang="en-US" sz="1000" dirty="0"/>
          </a:p>
        </p:txBody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11480" y="4279392"/>
            <a:ext cx="8321040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338328"/>
            <a:ext cx="1225296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920240" y="301752"/>
            <a:ext cx="6263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19 · LOYALTY &amp; DEVICE MIGRATION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8229600" y="301752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Diaspora-to-Door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68680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Trade US$100 a month for five months — earn the handset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411480" y="169164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11480" y="184708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Month 1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48640" y="215798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US$100 traded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103120" y="169164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103120" y="184708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Month 2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2240280" y="215798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US$100 traded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3794760" y="169164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794760" y="184708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Month 3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3931920" y="215798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US$100 traded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5486400" y="169164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486400" y="184708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Month 4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5623560" y="215798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US$100 traded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7178040" y="169164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178040" y="184708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Month 5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7315200" y="215798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5G-lite smartphone awarded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411480" y="278892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40080" y="3017520"/>
            <a:ext cx="411480" cy="54864"/>
          </a:xfrm>
          <a:prstGeom prst="roundRect">
            <a:avLst>
              <a:gd name="adj" fmla="val 500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40080" y="3172968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Discovery-Vitality mechanics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640080" y="37490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Consecutive qualifying months unlock the reward. Behaviour is earned, not bought, and the tier resets if trading lapses.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3246120" y="278892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474720" y="3017520"/>
            <a:ext cx="411480" cy="54864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3474720" y="3172968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Family basket sharing</a:t>
            </a:r>
            <a:endParaRPr lang="en-US" sz="1400" dirty="0"/>
          </a:p>
        </p:txBody>
      </p:sp>
      <p:sp>
        <p:nvSpPr>
          <p:cNvPr id="31" name="Text 28"/>
          <p:cNvSpPr/>
          <p:nvPr/>
        </p:nvSpPr>
        <p:spPr>
          <a:xfrm>
            <a:off x="3474720" y="37490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household members contribute to one qualifying basket, so families reach the threshold faster and consolidate spend on the platform.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6080760" y="278892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6309360" y="3017520"/>
            <a:ext cx="411480" cy="54864"/>
          </a:xfrm>
          <a:prstGeom prst="roundRect">
            <a:avLst>
              <a:gd name="adj" fmla="val 500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309360" y="3172968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real purpose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6309360" y="37490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~US$50 landed handset with the markup absorbed migrates 2G and 3G users onto the platform. Device cost is customer acquisition, booked as such.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02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338328"/>
            <a:ext cx="1225296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920240" y="301752"/>
            <a:ext cx="6263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20 · PAYMENT RAILS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8229600" y="301752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A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Diaspora-to-Door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68680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Bank-agnostic by design, multi-bank in practice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411480" y="1691640"/>
            <a:ext cx="4069080" cy="2148840"/>
          </a:xfrm>
          <a:prstGeom prst="roundRect">
            <a:avLst>
              <a:gd name="adj" fmla="val 3404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12648" y="1856232"/>
            <a:ext cx="36667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say to banks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12648" y="2258568"/>
            <a:ext cx="366674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 your remittance APIs into the platform and we bring transaction share-of-wallet: recurring diaspora flows landing as retail settlement rather than cash-out.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exclusivity is requested and none is given. Every rail is one integration among several, so pricing stays competitive and no single institution gates the platform.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663440" y="1691640"/>
            <a:ext cx="4069080" cy="2148840"/>
          </a:xfrm>
          <a:prstGeom prst="roundRect">
            <a:avLst>
              <a:gd name="adj" fmla="val 3404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864608" y="1856232"/>
            <a:ext cx="36667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say to the retailer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4864608" y="2258568"/>
            <a:ext cx="366674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Banks bring critical mass. Their diaspora bases are already captured audiences; the platform converts those balances into baskets inside your estate.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Institutions under discussion are prospects at this stage. Nothing is presented in-app as a confirmed partnership until an agreement is signed.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11480" y="3977640"/>
            <a:ext cx="8321040" cy="658368"/>
          </a:xfrm>
          <a:prstGeom prst="roundRect">
            <a:avLst>
              <a:gd name="adj" fmla="val 11111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0080" y="3977640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rule: no bank-specific logic in the core. Rails are adapters, so adding or dropping an institution is a configuration change, never a rebuild.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338328"/>
            <a:ext cx="1225296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920240" y="301752"/>
            <a:ext cx="6263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21 · WHOLESALE &amp; INFORMAL CHANNEL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8229600" y="301752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Diaspora-to-Door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68680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Tuck shops become distribution extensions, not competitors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411480" y="1691640"/>
            <a:ext cx="1929384" cy="1280160"/>
          </a:xfrm>
          <a:prstGeom prst="roundRect">
            <a:avLst>
              <a:gd name="adj" fmla="val 5714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180136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594360" y="2002536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Aggregate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594360" y="228600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orders in a suburb are pooled in the app rather than fragmented across trips.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2523744" y="1691640"/>
            <a:ext cx="1929384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706624" y="180136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2706624" y="2002536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Fulfil locally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2706624" y="228600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nearest tuck shop picks and hands over, cutting distance, fuel and delivery cost.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4636008" y="1691640"/>
            <a:ext cx="1929384" cy="1280160"/>
          </a:xfrm>
          <a:prstGeom prst="roundRect">
            <a:avLst>
              <a:gd name="adj" fmla="val 5714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818888" y="180136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4818888" y="2002536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Repackage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4818888" y="228600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 stock is broken into the 200g-type pack sizes the market actually buys.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6748272" y="1691640"/>
            <a:ext cx="1929384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931152" y="180136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6931152" y="2002536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Supply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6931152" y="228600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retailer sells bulk into the channel as a wholesaler and keeps the volume.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411480" y="3108960"/>
            <a:ext cx="406908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40080" y="3337560"/>
            <a:ext cx="411480" cy="54864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40080" y="3493008"/>
            <a:ext cx="3611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Pack size is the unlock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640080" y="406908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Households buy 200g, not 2kg. The retailer sells bulk to the tuck shop, the tuck shop repackages to the price point the street can afford — the small-multipack playbook proven by packaged brands expanding regionally.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4663440" y="3108960"/>
            <a:ext cx="406908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892040" y="3337560"/>
            <a:ext cx="411480" cy="54864"/>
          </a:xfrm>
          <a:prstGeom prst="roundRect">
            <a:avLst>
              <a:gd name="adj" fmla="val 500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892040" y="3493008"/>
            <a:ext cx="3611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government argument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4892040" y="406908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informal trade through the platform makes it visible: tax is captured, stock is traceable and counterfeit product is squeezed out. Legitimisation, not enforcement.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02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338328"/>
            <a:ext cx="1225296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920240" y="301752"/>
            <a:ext cx="6263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22 · COMMERCIAL &amp; ENTITY STRUCTURE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8229600" y="301752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A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Diaspora-to-Door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68680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Hybrid commercial model, two-country structure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411480" y="1691640"/>
            <a:ext cx="2651760" cy="1143000"/>
          </a:xfrm>
          <a:prstGeom prst="roundRect">
            <a:avLst>
              <a:gd name="adj" fmla="val 6400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12648" y="1856232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White-label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12648" y="2258568"/>
            <a:ext cx="22494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storefront and app ship under the retailer's brand, licensed rather than sold.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246120" y="1691640"/>
            <a:ext cx="2651760" cy="1143000"/>
          </a:xfrm>
          <a:prstGeom prst="roundRect">
            <a:avLst>
              <a:gd name="adj" fmla="val 6400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447288" y="1856232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Subscription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3447288" y="2258568"/>
            <a:ext cx="22494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Tiered monthly platform fees per tenant, opening at a 100,000-participant tier.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080760" y="1691640"/>
            <a:ext cx="2651760" cy="1143000"/>
          </a:xfrm>
          <a:prstGeom prst="roundRect">
            <a:avLst>
              <a:gd name="adj" fmla="val 6400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281928" y="1856232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Commission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281928" y="2258568"/>
            <a:ext cx="22494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thin transaction share on GMV, sitting on top of the recurring base.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11480" y="2971800"/>
            <a:ext cx="4069080" cy="1188720"/>
          </a:xfrm>
          <a:prstGeom prst="roundRect">
            <a:avLst>
              <a:gd name="adj" fmla="val 6154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12648" y="3136392"/>
            <a:ext cx="36667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South African company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12648" y="3538728"/>
            <a:ext cx="3666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the platform IP and raises capital where liquidity and investor access are deepest. Contracts with tenants and banks sit here.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4663440" y="2971800"/>
            <a:ext cx="4069080" cy="1188720"/>
          </a:xfrm>
          <a:prstGeom prst="roundRect">
            <a:avLst>
              <a:gd name="adj" fmla="val 6154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864608" y="3136392"/>
            <a:ext cx="36667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Zimbabwean subsidiary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4864608" y="3538728"/>
            <a:ext cx="3666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logistics, the scooter fleet and local agreements on the ground, with local employment and local regulatory standing.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411480" y="4279392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Directional as at 13 August — structure to be confirmed with tax and legal counsel before any binding term sheet.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02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749040" y="960120"/>
            <a:ext cx="1645920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0" y="1051560"/>
            <a:ext cx="1463040" cy="2834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178308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Turn 57+ branches into a diaspora fulfilment network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023360" y="2971800"/>
            <a:ext cx="1097280" cy="73152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463040" y="3291840"/>
            <a:ext cx="6217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next step: select a commercial structure and mandate a 60-day pilot on two flagship Harare branches.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11480" y="46863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074920" y="46863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2026-08-14T16:01:03Z</dcterms:created>
  <dcterms:modified xsi:type="dcterms:W3CDTF">2026-08-14T16:01:03Z</dcterms:modified>
</cp:coreProperties>
</file>