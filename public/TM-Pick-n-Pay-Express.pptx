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png" ContentType="image/png"/>
  <Override PartName="/ppt/media/image3.jpeg" ContentType="image/jpeg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8271B6C-6193-4BD8-AF8A-4EBD79EEAD06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F4E1F7-09D6-4497-8659-D3DC3FF25BD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839DC6-AF80-419E-BE71-88A876EAF9F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7F6749-E65C-46BB-BF2E-7041B71B9F6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F34DA6-DED2-4BF0-B797-0B7DA0BD1A6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7630B0-94AD-4F5C-813E-9084C5A5F76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AF8A8E-E2A5-425D-A0DA-068F417867E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0D0388-A846-4FB4-B6A0-C60BB8696E3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CFD941-5D23-4A0D-8D91-BDD31A703B5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569AF4-C49B-4A17-B4F6-41C0C5E769F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D08662-CDA8-4B72-970C-6B97E9759E2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7AC1F1-BC77-4578-BE0C-7AB17A7FE8D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240AAE-70F9-4BF1-9B79-B7EF140737C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75E646-75A8-4D69-9D86-719A11E12D9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9E69A43-F224-4358-AB96-8BCE5A7B274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/>
          <p:cNvPicPr/>
          <p:nvPr/>
        </p:nvPicPr>
        <p:blipFill>
          <a:blip r:embed="rId1"/>
          <a:stretch/>
        </p:blipFill>
        <p:spPr>
          <a:xfrm>
            <a:off x="4206240" y="0"/>
            <a:ext cx="493740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Shape 0"/>
          <p:cNvSpPr/>
          <p:nvPr/>
        </p:nvSpPr>
        <p:spPr>
          <a:xfrm>
            <a:off x="0" y="0"/>
            <a:ext cx="5120280" cy="5143320"/>
          </a:xfrm>
          <a:prstGeom prst="rect">
            <a:avLst/>
          </a:prstGeom>
          <a:solidFill>
            <a:srgbClr val="10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Shape 1"/>
          <p:cNvSpPr/>
          <p:nvPr/>
        </p:nvSpPr>
        <p:spPr>
          <a:xfrm>
            <a:off x="5120640" y="0"/>
            <a:ext cx="1005480" cy="5143320"/>
          </a:xfrm>
          <a:prstGeom prst="rect">
            <a:avLst/>
          </a:prstGeom>
          <a:solidFill>
            <a:srgbClr val="10243f">
              <a:alpha val="55000"/>
            </a:srgbClr>
          </a:solidFill>
          <a:ln w="12700">
            <a:solidFill>
              <a:srgbClr val="10243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2"/>
          <p:cNvSpPr/>
          <p:nvPr/>
        </p:nvSpPr>
        <p:spPr>
          <a:xfrm>
            <a:off x="411480" y="411480"/>
            <a:ext cx="1645560" cy="43848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Image 1" descr="preencoded.png"/>
          <p:cNvPicPr/>
          <p:nvPr/>
        </p:nvPicPr>
        <p:blipFill>
          <a:blip r:embed="rId2"/>
          <a:stretch/>
        </p:blipFill>
        <p:spPr>
          <a:xfrm>
            <a:off x="502920" y="493920"/>
            <a:ext cx="146268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Text 3"/>
          <p:cNvSpPr/>
          <p:nvPr/>
        </p:nvSpPr>
        <p:spPr>
          <a:xfrm>
            <a:off x="411480" y="146304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00" strike="noStrike" u="none">
                <a:solidFill>
                  <a:srgbClr val="f2b233"/>
                </a:solidFill>
                <a:effectLst/>
                <a:uFillTx/>
                <a:latin typeface="Calibri"/>
                <a:ea typeface="Calibri"/>
              </a:rPr>
              <a:t>EXECUTIVE BOARD PROPOSAL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11480" y="1828800"/>
            <a:ext cx="4845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3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TM Pick n Pay Express</a:t>
            </a:r>
            <a:endParaRPr b="0" lang="en-US" sz="3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11480" y="260604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trike="noStrike" u="none">
                <a:solidFill>
                  <a:srgbClr val="d5deea"/>
                </a:solidFill>
                <a:effectLst/>
                <a:uFillTx/>
                <a:latin typeface="Calibri"/>
                <a:ea typeface="Calibri"/>
              </a:rPr>
              <a:t>Evolving Click &amp; Collect into Diaspora-to-Door delivery</a:t>
            </a:r>
            <a:endParaRPr b="0" lang="en-US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411480" y="3429000"/>
            <a:ext cx="1096920" cy="727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11480" y="374904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9fb0c6"/>
                </a:solidFill>
                <a:effectLst/>
                <a:uFillTx/>
                <a:latin typeface="Calibri"/>
                <a:ea typeface="Calibri"/>
              </a:rPr>
              <a:t>Prepared for the Executive Board · TM Pick n Pay Zimbabwe &amp; Meikles Limited</a:t>
            </a:r>
            <a:endParaRPr b="0" lang="en-U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01 · THE OPPORTUNITY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Monetising the digital infrastructure you already own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411480" y="1737360"/>
            <a:ext cx="2651400" cy="1828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7"/>
          <p:cNvSpPr/>
          <p:nvPr/>
        </p:nvSpPr>
        <p:spPr>
          <a:xfrm>
            <a:off x="640080" y="19659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640080" y="21214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The foundation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640080" y="269748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tmpnponline.co.zw and the dedicated app are already live, running localized Click &amp; Collect across the estate.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3200400" y="1737360"/>
            <a:ext cx="2651400" cy="1828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3429000" y="19659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3429000" y="21214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The optimization gap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3429000" y="269748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Collection demands transport, fuel and time. Diaspora buyers still pay Malayitsha vans purely for doorstep convenience.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5989320" y="1737360"/>
            <a:ext cx="2651400" cy="1828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6217920" y="19659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6"/>
          <p:cNvSpPr/>
          <p:nvPr/>
        </p:nvSpPr>
        <p:spPr>
          <a:xfrm>
            <a:off x="6217920" y="21214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Our value proposition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217920" y="2697480"/>
            <a:ext cx="2194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A Diaspora UI mode plus a decentralised last-mile network turns 57+ branches into on-demand fulfilment nodes.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1" descr="preencoded.png"/>
          <p:cNvPicPr/>
          <p:nvPr/>
        </p:nvPicPr>
        <p:blipFill>
          <a:blip r:embed="rId2"/>
          <a:stretch/>
        </p:blipFill>
        <p:spPr>
          <a:xfrm>
            <a:off x="411480" y="3703320"/>
            <a:ext cx="8320680" cy="959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02 · STATUS QUO VS EVOLUTION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Bypassing physical logistics friction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6"/>
          <p:cNvSpPr/>
          <p:nvPr/>
        </p:nvSpPr>
        <p:spPr>
          <a:xfrm>
            <a:off x="411480" y="1783080"/>
            <a:ext cx="832068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640080" y="1984320"/>
            <a:ext cx="145800" cy="145800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868680" y="1901880"/>
            <a:ext cx="7680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Current system — Click &amp; Collect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640080" y="2331720"/>
            <a:ext cx="18421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640080" y="2331720"/>
            <a:ext cx="184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Diaspora shopper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1"/>
          <p:cNvSpPr/>
          <p:nvPr/>
        </p:nvSpPr>
        <p:spPr>
          <a:xfrm>
            <a:off x="2647080" y="2331720"/>
            <a:ext cx="18421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2"/>
          <p:cNvSpPr/>
          <p:nvPr/>
        </p:nvSpPr>
        <p:spPr>
          <a:xfrm>
            <a:off x="2647080" y="2331720"/>
            <a:ext cx="184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Web / app order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4654440" y="2331720"/>
            <a:ext cx="18421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4654440" y="2331720"/>
            <a:ext cx="184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Recipient must travel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6661440" y="2331720"/>
            <a:ext cx="18421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6661440" y="2331720"/>
            <a:ext cx="184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Urban branches only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7"/>
          <p:cNvSpPr/>
          <p:nvPr/>
        </p:nvSpPr>
        <p:spPr>
          <a:xfrm>
            <a:off x="411480" y="2971800"/>
            <a:ext cx="8320680" cy="10512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40080" y="3173040"/>
            <a:ext cx="145800" cy="145800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868680" y="3090600"/>
            <a:ext cx="7680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The evolution — On-demand diaspora engine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0"/>
          <p:cNvSpPr/>
          <p:nvPr/>
        </p:nvSpPr>
        <p:spPr>
          <a:xfrm>
            <a:off x="640080" y="3520440"/>
            <a:ext cx="14407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640080" y="3520440"/>
            <a:ext cx="1440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Diaspora shopper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2245680" y="3520440"/>
            <a:ext cx="14407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3"/>
          <p:cNvSpPr/>
          <p:nvPr/>
        </p:nvSpPr>
        <p:spPr>
          <a:xfrm>
            <a:off x="2245680" y="3520440"/>
            <a:ext cx="1440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Targeted ads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4"/>
          <p:cNvSpPr/>
          <p:nvPr/>
        </p:nvSpPr>
        <p:spPr>
          <a:xfrm>
            <a:off x="3851280" y="3520440"/>
            <a:ext cx="14407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3851280" y="3520440"/>
            <a:ext cx="1440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Pure US$ gateway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6"/>
          <p:cNvSpPr/>
          <p:nvPr/>
        </p:nvSpPr>
        <p:spPr>
          <a:xfrm>
            <a:off x="5457240" y="3520440"/>
            <a:ext cx="14407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7"/>
          <p:cNvSpPr/>
          <p:nvPr/>
        </p:nvSpPr>
        <p:spPr>
          <a:xfrm>
            <a:off x="5457240" y="3520440"/>
            <a:ext cx="1440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Bike courier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7062840" y="3520440"/>
            <a:ext cx="1440720" cy="383760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7062840" y="3520440"/>
            <a:ext cx="1440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Recipient's door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0"/>
          <p:cNvSpPr/>
          <p:nvPr/>
        </p:nvSpPr>
        <p:spPr>
          <a:xfrm>
            <a:off x="411480" y="4160520"/>
            <a:ext cx="4068720" cy="548280"/>
          </a:xfrm>
          <a:prstGeom prst="roundRect">
            <a:avLst>
              <a:gd name="adj" fmla="val 13333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594360" y="4160520"/>
            <a:ext cx="3702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Rural and elderly recipients cannot easily reach a flagship urban branch to collect heavy hampers.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32"/>
          <p:cNvSpPr/>
          <p:nvPr/>
        </p:nvSpPr>
        <p:spPr>
          <a:xfrm>
            <a:off x="4663440" y="4160520"/>
            <a:ext cx="4068720" cy="548280"/>
          </a:xfrm>
          <a:prstGeom prst="roundRect">
            <a:avLst>
              <a:gd name="adj" fmla="val 13333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4846320" y="4160520"/>
            <a:ext cx="3702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Door-to-door fulfilment adds sponsors who want confirmation that food arrived safely.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SLIDE 03 · P&amp;L ASSUMPTIONS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ab6c8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Monetising every stage of the cross-border basket</a:t>
            </a:r>
            <a:endParaRPr b="0" lang="en-US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6"/>
          <p:cNvSpPr/>
          <p:nvPr/>
        </p:nvSpPr>
        <p:spPr>
          <a:xfrm>
            <a:off x="411480" y="1783080"/>
            <a:ext cx="1928880" cy="109692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594360" y="1920240"/>
            <a:ext cx="1599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40,000</a:t>
            </a:r>
            <a:endParaRPr b="0" lang="en-US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594360" y="245052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ebed2"/>
                </a:solidFill>
                <a:effectLst/>
                <a:uFillTx/>
                <a:latin typeface="Calibri"/>
                <a:ea typeface="Calibri"/>
              </a:rPr>
              <a:t>Active diaspora customers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9"/>
          <p:cNvSpPr/>
          <p:nvPr/>
        </p:nvSpPr>
        <p:spPr>
          <a:xfrm>
            <a:off x="2523600" y="1783080"/>
            <a:ext cx="1928880" cy="109692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0"/>
          <p:cNvSpPr/>
          <p:nvPr/>
        </p:nvSpPr>
        <p:spPr>
          <a:xfrm>
            <a:off x="2706480" y="1920240"/>
            <a:ext cx="1599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1.5</a:t>
            </a:r>
            <a:endParaRPr b="0" lang="en-US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2706480" y="245052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ebed2"/>
                </a:solidFill>
                <a:effectLst/>
                <a:uFillTx/>
                <a:latin typeface="Calibri"/>
                <a:ea typeface="Calibri"/>
              </a:rPr>
              <a:t>Orders per month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4636080" y="1783080"/>
            <a:ext cx="1928880" cy="109692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4818960" y="1920240"/>
            <a:ext cx="1599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US$85</a:t>
            </a:r>
            <a:endParaRPr b="0" lang="en-US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4818960" y="245052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ebed2"/>
                </a:solidFill>
                <a:effectLst/>
                <a:uFillTx/>
                <a:latin typeface="Calibri"/>
                <a:ea typeface="Calibri"/>
              </a:rPr>
              <a:t>Average basket size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6748200" y="1783080"/>
            <a:ext cx="1928880" cy="109692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931080" y="1920240"/>
            <a:ext cx="1599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12</a:t>
            </a:r>
            <a:endParaRPr b="0" lang="en-US" sz="2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6931080" y="245052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aebed2"/>
                </a:solidFill>
                <a:effectLst/>
                <a:uFillTx/>
                <a:latin typeface="Calibri"/>
                <a:ea typeface="Calibri"/>
              </a:rPr>
              <a:t>Months</a:t>
            </a:r>
            <a:endParaRPr b="0" lang="en-U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411480" y="3063240"/>
            <a:ext cx="8320680" cy="137124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777240" y="32461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f7cbd4"/>
                </a:solidFill>
                <a:effectLst/>
                <a:uFillTx/>
                <a:latin typeface="Calibri"/>
                <a:ea typeface="Calibri"/>
              </a:rPr>
              <a:t>ANNUAL GROSS MERCHANDISE VALUE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777240" y="352044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US$61,200,000</a:t>
            </a:r>
            <a:endParaRPr b="0" lang="en-US" sz="3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1"/>
          <p:cNvSpPr/>
          <p:nvPr/>
        </p:nvSpPr>
        <p:spPr>
          <a:xfrm>
            <a:off x="5486400" y="3291840"/>
            <a:ext cx="292572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be3e8"/>
                </a:solidFill>
                <a:effectLst/>
                <a:uFillTx/>
                <a:latin typeface="Calibri"/>
                <a:ea typeface="Calibri"/>
              </a:rPr>
              <a:t>40,000 customers × 1.5 orders × US$85 × 12 months — migrated from cash remittances and Malayitsha vans into a tracked US$ retail pipeline.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03 · FIVE REVENUE STREAMS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Five stacked revenue streams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"/>
          <p:cNvSpPr/>
          <p:nvPr/>
        </p:nvSpPr>
        <p:spPr>
          <a:xfrm>
            <a:off x="411480" y="17830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594360" y="19202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1. Retail product margins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594360" y="22219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Spread captured on goods otherwise bought in South African cash-and-carries. 21% gross margin.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94360" y="26974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US$12,852,000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0"/>
          <p:cNvSpPr/>
          <p:nvPr/>
        </p:nvSpPr>
        <p:spPr>
          <a:xfrm>
            <a:off x="3246120" y="17830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3429000" y="19202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2. Last-mile delivery share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3429000" y="22219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US$4.50 fee within 10km; the platform retains US$1.50 net per drop.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3429000" y="26974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US$1,080,000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4"/>
          <p:cNvSpPr/>
          <p:nvPr/>
        </p:nvSpPr>
        <p:spPr>
          <a:xfrm>
            <a:off x="6080760" y="17830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6263640" y="19202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3. Cross-border surcharge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6263640" y="22219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3% checkout fee on international cards originating outside Zimbabwe.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6263640" y="26974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US$1,836,000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8"/>
          <p:cNvSpPr/>
          <p:nvPr/>
        </p:nvSpPr>
        <p:spPr>
          <a:xfrm>
            <a:off x="411480" y="31546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594360" y="32918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4. Diaspora Priority tiers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594360" y="35935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US$8.99/month for free delivery and recurring staple baskets. 15% adoption.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594360" y="40690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US$647,280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2"/>
          <p:cNvSpPr/>
          <p:nvPr/>
        </p:nvSpPr>
        <p:spPr>
          <a:xfrm>
            <a:off x="3246120" y="31546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3"/>
          <p:cNvSpPr/>
          <p:nvPr/>
        </p:nvSpPr>
        <p:spPr>
          <a:xfrm>
            <a:off x="3429000" y="329184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5. Retail media network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3429000" y="359352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FMCG brands bid for sponsored placement in front of high-spend diaspora buyers.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5"/>
          <p:cNvSpPr/>
          <p:nvPr/>
        </p:nvSpPr>
        <p:spPr>
          <a:xfrm>
            <a:off x="3429000" y="40690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US$734,400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6"/>
          <p:cNvSpPr/>
          <p:nvPr/>
        </p:nvSpPr>
        <p:spPr>
          <a:xfrm>
            <a:off x="6080760" y="3154680"/>
            <a:ext cx="2697120" cy="123408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7"/>
          <p:cNvSpPr/>
          <p:nvPr/>
        </p:nvSpPr>
        <p:spPr>
          <a:xfrm>
            <a:off x="6263640" y="3337560"/>
            <a:ext cx="2331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201" strike="noStrike" u="none">
                <a:solidFill>
                  <a:srgbClr val="f2b233"/>
                </a:solidFill>
                <a:effectLst/>
                <a:uFillTx/>
                <a:latin typeface="Calibri"/>
                <a:ea typeface="Calibri"/>
              </a:rPr>
              <a:t>TOTAL ECOSYSTEM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8"/>
          <p:cNvSpPr/>
          <p:nvPr/>
        </p:nvSpPr>
        <p:spPr>
          <a:xfrm>
            <a:off x="6263640" y="3611880"/>
            <a:ext cx="2331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US$17,149,680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9"/>
          <p:cNvSpPr/>
          <p:nvPr/>
        </p:nvSpPr>
        <p:spPr>
          <a:xfrm>
            <a:off x="6263640" y="405072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Projected annual revenue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04 · REVENUE BREAKDOWN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Projected total ecosystem annual revenue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411480" y="14814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d0103a"/>
                </a:solidFill>
                <a:effectLst/>
                <a:uFillTx/>
                <a:latin typeface="Georgia"/>
                <a:ea typeface="Georgia"/>
              </a:rPr>
              <a:t>US$17,149,680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411480" y="201168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Incremental retail margins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411480" y="223128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21% gross retail margin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9"/>
          <p:cNvSpPr/>
          <p:nvPr/>
        </p:nvSpPr>
        <p:spPr>
          <a:xfrm>
            <a:off x="3291840" y="210312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3291840" y="210312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7406640" y="2084760"/>
            <a:ext cx="1325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US$12,852,000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411480" y="251460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Last-mile delivery share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411480" y="273420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US$1.50 net per drop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3291840" y="260604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5"/>
          <p:cNvSpPr/>
          <p:nvPr/>
        </p:nvSpPr>
        <p:spPr>
          <a:xfrm>
            <a:off x="3291840" y="2606040"/>
            <a:ext cx="333720" cy="2739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7406640" y="2587680"/>
            <a:ext cx="1325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US$1,080,000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411480" y="301752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Cross-border tech surcharge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411480" y="323712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3% on international cards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9"/>
          <p:cNvSpPr/>
          <p:nvPr/>
        </p:nvSpPr>
        <p:spPr>
          <a:xfrm>
            <a:off x="3291840" y="310896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20"/>
          <p:cNvSpPr/>
          <p:nvPr/>
        </p:nvSpPr>
        <p:spPr>
          <a:xfrm>
            <a:off x="3291840" y="3108960"/>
            <a:ext cx="567720" cy="2739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7406640" y="3090600"/>
            <a:ext cx="1325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US$1,836,000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2"/>
          <p:cNvSpPr/>
          <p:nvPr/>
        </p:nvSpPr>
        <p:spPr>
          <a:xfrm>
            <a:off x="411480" y="352044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Diaspora Priority subscriptions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411480" y="374004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6,000 subscribers @ US$8.99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4"/>
          <p:cNvSpPr/>
          <p:nvPr/>
        </p:nvSpPr>
        <p:spPr>
          <a:xfrm>
            <a:off x="3291840" y="361188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5"/>
          <p:cNvSpPr/>
          <p:nvPr/>
        </p:nvSpPr>
        <p:spPr>
          <a:xfrm>
            <a:off x="3291840" y="3611880"/>
            <a:ext cx="319680" cy="2739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6"/>
          <p:cNvSpPr/>
          <p:nvPr/>
        </p:nvSpPr>
        <p:spPr>
          <a:xfrm>
            <a:off x="7406640" y="3593520"/>
            <a:ext cx="1325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US$647,280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7"/>
          <p:cNvSpPr/>
          <p:nvPr/>
        </p:nvSpPr>
        <p:spPr>
          <a:xfrm>
            <a:off x="411480" y="4023360"/>
            <a:ext cx="27428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Supplier-funded retail media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8"/>
          <p:cNvSpPr/>
          <p:nvPr/>
        </p:nvSpPr>
        <p:spPr>
          <a:xfrm>
            <a:off x="411480" y="424296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1.2% of platform GMV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9"/>
          <p:cNvSpPr/>
          <p:nvPr/>
        </p:nvSpPr>
        <p:spPr>
          <a:xfrm>
            <a:off x="3291840" y="4114800"/>
            <a:ext cx="3977280" cy="27396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0"/>
          <p:cNvSpPr/>
          <p:nvPr/>
        </p:nvSpPr>
        <p:spPr>
          <a:xfrm>
            <a:off x="3291840" y="4114800"/>
            <a:ext cx="319680" cy="2739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1"/>
          <p:cNvSpPr/>
          <p:nvPr/>
        </p:nvSpPr>
        <p:spPr>
          <a:xfrm>
            <a:off x="7406640" y="4096440"/>
            <a:ext cx="13255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US$734,400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05 · BUSINESS MODEL OPTIONS 1–2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Aligning risk, capital and structure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6"/>
          <p:cNvSpPr/>
          <p:nvPr/>
        </p:nvSpPr>
        <p:spPr>
          <a:xfrm>
            <a:off x="411480" y="1737360"/>
            <a:ext cx="402300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7"/>
          <p:cNvSpPr/>
          <p:nvPr/>
        </p:nvSpPr>
        <p:spPr>
          <a:xfrm>
            <a:off x="612720" y="1883520"/>
            <a:ext cx="868320" cy="25560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612720" y="188352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OPTION 1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1554480" y="18471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Independent Concierge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612720" y="2240280"/>
            <a:ext cx="3638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We operate as a standalone entity mirroring your catalog via API. Senders pay us in US$; we buy stock at a negotiated wholesale discount and fulfil with our own driver network.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61272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SETUP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61272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US$15,000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182880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MONTHLY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182880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US$8,500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304488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REVENUE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6"/>
          <p:cNvSpPr/>
          <p:nvPr/>
        </p:nvSpPr>
        <p:spPr>
          <a:xfrm>
            <a:off x="304488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5–8% markup + 3–5% rebate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7"/>
          <p:cNvSpPr/>
          <p:nvPr/>
        </p:nvSpPr>
        <p:spPr>
          <a:xfrm>
            <a:off x="4709160" y="1737360"/>
            <a:ext cx="402300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8"/>
          <p:cNvSpPr/>
          <p:nvPr/>
        </p:nvSpPr>
        <p:spPr>
          <a:xfrm>
            <a:off x="4910400" y="1883520"/>
            <a:ext cx="868320" cy="25560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4910400" y="188352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OPTION 2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0"/>
          <p:cNvSpPr/>
          <p:nvPr/>
        </p:nvSpPr>
        <p:spPr>
          <a:xfrm>
            <a:off x="5852160" y="18471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White-Label Licensing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1"/>
          <p:cNvSpPr/>
          <p:nvPr/>
        </p:nvSpPr>
        <p:spPr>
          <a:xfrm>
            <a:off x="4910400" y="2240280"/>
            <a:ext cx="3638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We build the cross-border storefront extension and license it to TM PnP. It integrates into tmpnponline.co.zw, natively branded, fulfilled by third-party Zimbabwean couriers.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2"/>
          <p:cNvSpPr/>
          <p:nvPr/>
        </p:nvSpPr>
        <p:spPr>
          <a:xfrm>
            <a:off x="491040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SETUP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3"/>
          <p:cNvSpPr/>
          <p:nvPr/>
        </p:nvSpPr>
        <p:spPr>
          <a:xfrm>
            <a:off x="491040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US$25,000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4"/>
          <p:cNvSpPr/>
          <p:nvPr/>
        </p:nvSpPr>
        <p:spPr>
          <a:xfrm>
            <a:off x="612648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MONTHLY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5"/>
          <p:cNvSpPr/>
          <p:nvPr/>
        </p:nvSpPr>
        <p:spPr>
          <a:xfrm>
            <a:off x="612648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US$2,000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6"/>
          <p:cNvSpPr/>
          <p:nvPr/>
        </p:nvSpPr>
        <p:spPr>
          <a:xfrm>
            <a:off x="734256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REVENUE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7"/>
          <p:cNvSpPr/>
          <p:nvPr/>
        </p:nvSpPr>
        <p:spPr>
          <a:xfrm>
            <a:off x="734256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US$40k + US$3.5k/mo or 1.5–2% GMV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05 · BUSINESS MODEL OPTIONS 3–4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07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Partnership and hybrid structures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6"/>
          <p:cNvSpPr/>
          <p:nvPr/>
        </p:nvSpPr>
        <p:spPr>
          <a:xfrm>
            <a:off x="411480" y="1737360"/>
            <a:ext cx="402300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7"/>
          <p:cNvSpPr/>
          <p:nvPr/>
        </p:nvSpPr>
        <p:spPr>
          <a:xfrm>
            <a:off x="612720" y="1883520"/>
            <a:ext cx="868320" cy="25560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8"/>
          <p:cNvSpPr/>
          <p:nvPr/>
        </p:nvSpPr>
        <p:spPr>
          <a:xfrm>
            <a:off x="612720" y="188352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OPTION 3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9"/>
          <p:cNvSpPr/>
          <p:nvPr/>
        </p:nvSpPr>
        <p:spPr>
          <a:xfrm>
            <a:off x="1554480" y="18471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Tripartite Joint Venture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0"/>
          <p:cNvSpPr/>
          <p:nvPr/>
        </p:nvSpPr>
        <p:spPr>
          <a:xfrm>
            <a:off x="612720" y="2240280"/>
            <a:ext cx="3638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PnP + Quatrohaus / Code Virtus + our firm. We provide the cross-border framework, payment tunnels and diaspora marketing; branch staff pick, third-party bike networks deliver.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1"/>
          <p:cNvSpPr/>
          <p:nvPr/>
        </p:nvSpPr>
        <p:spPr>
          <a:xfrm>
            <a:off x="61272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SETUP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2"/>
          <p:cNvSpPr/>
          <p:nvPr/>
        </p:nvSpPr>
        <p:spPr>
          <a:xfrm>
            <a:off x="61272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US$5,000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3"/>
          <p:cNvSpPr/>
          <p:nvPr/>
        </p:nvSpPr>
        <p:spPr>
          <a:xfrm>
            <a:off x="182880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MONTHLY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4"/>
          <p:cNvSpPr/>
          <p:nvPr/>
        </p:nvSpPr>
        <p:spPr>
          <a:xfrm>
            <a:off x="182880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Absorbed in IT budget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5"/>
          <p:cNvSpPr/>
          <p:nvPr/>
        </p:nvSpPr>
        <p:spPr>
          <a:xfrm>
            <a:off x="304488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REVENUE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6"/>
          <p:cNvSpPr/>
          <p:nvPr/>
        </p:nvSpPr>
        <p:spPr>
          <a:xfrm>
            <a:off x="304488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60 / 20 / 20 net profit split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7"/>
          <p:cNvSpPr/>
          <p:nvPr/>
        </p:nvSpPr>
        <p:spPr>
          <a:xfrm>
            <a:off x="4709160" y="1737360"/>
            <a:ext cx="4023000" cy="2651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8"/>
          <p:cNvSpPr/>
          <p:nvPr/>
        </p:nvSpPr>
        <p:spPr>
          <a:xfrm>
            <a:off x="4910400" y="1883520"/>
            <a:ext cx="868320" cy="25560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9"/>
          <p:cNvSpPr/>
          <p:nvPr/>
        </p:nvSpPr>
        <p:spPr>
          <a:xfrm>
            <a:off x="4910400" y="1883520"/>
            <a:ext cx="8683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OPTION 4</a:t>
            </a:r>
            <a:endParaRPr b="0" lang="en-US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0"/>
          <p:cNvSpPr/>
          <p:nvPr/>
        </p:nvSpPr>
        <p:spPr>
          <a:xfrm>
            <a:off x="5852160" y="1847160"/>
            <a:ext cx="2742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Remittance Tokens</a:t>
            </a:r>
            <a:endParaRPr b="0" lang="en-US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1"/>
          <p:cNvSpPr/>
          <p:nvPr/>
        </p:nvSpPr>
        <p:spPr>
          <a:xfrm>
            <a:off x="4910400" y="2240280"/>
            <a:ext cx="36388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Diaspora shoppers buy a US$ Eco-Voucher: auto-dispatch a staple hamper by bike courier, or push a secure barcode via SMS/WhatsApp for in-store redemption, bypassing cash-out queues.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2"/>
          <p:cNvSpPr/>
          <p:nvPr/>
        </p:nvSpPr>
        <p:spPr>
          <a:xfrm>
            <a:off x="491040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SETUP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3"/>
          <p:cNvSpPr/>
          <p:nvPr/>
        </p:nvSpPr>
        <p:spPr>
          <a:xfrm>
            <a:off x="491040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US$10,000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4"/>
          <p:cNvSpPr/>
          <p:nvPr/>
        </p:nvSpPr>
        <p:spPr>
          <a:xfrm>
            <a:off x="612648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MONTHLY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25"/>
          <p:cNvSpPr/>
          <p:nvPr/>
        </p:nvSpPr>
        <p:spPr>
          <a:xfrm>
            <a:off x="612648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US$3,000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26"/>
          <p:cNvSpPr/>
          <p:nvPr/>
        </p:nvSpPr>
        <p:spPr>
          <a:xfrm>
            <a:off x="7342560" y="3566160"/>
            <a:ext cx="1170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99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REVENUE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7"/>
          <p:cNvSpPr/>
          <p:nvPr/>
        </p:nvSpPr>
        <p:spPr>
          <a:xfrm>
            <a:off x="7342560" y="3749040"/>
            <a:ext cx="1170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trike="noStrike" u="none">
                <a:solidFill>
                  <a:srgbClr val="16233a"/>
                </a:solidFill>
                <a:effectLst/>
                <a:uFillTx/>
                <a:latin typeface="Calibri"/>
                <a:ea typeface="Calibri"/>
              </a:rPr>
              <a:t>4–6% commission + float yield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SLIDE 06 · CONFIGURATION MATRIX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ab6c8"/>
                </a:solidFill>
                <a:effectLst/>
                <a:uFillTx/>
                <a:latin typeface="Calibri"/>
                <a:ea typeface="Calibri"/>
              </a:rPr>
              <a:t>08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Commercial model comparison</a:t>
            </a:r>
            <a:endParaRPr b="0" lang="en-US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5" name="Table 0"/>
          <p:cNvGraphicFramePr/>
          <p:nvPr/>
        </p:nvGraphicFramePr>
        <p:xfrm>
          <a:off x="411480" y="1783080"/>
          <a:ext cx="8320680" cy="2309400"/>
        </p:xfrm>
        <a:graphic>
          <a:graphicData uri="http://schemas.openxmlformats.org/drawingml/2006/table">
            <a:tbl>
              <a:tblPr/>
              <a:tblGrid>
                <a:gridCol w="1737360"/>
                <a:gridCol w="1645920"/>
                <a:gridCol w="1645920"/>
                <a:gridCol w="1645920"/>
                <a:gridCol w="1645920"/>
              </a:tblGrid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Georgia"/>
                          <a:ea typeface="Georgia"/>
                        </a:rPr>
                        <a:t>Metric</a:t>
                      </a:r>
                      <a:endParaRPr b="0" lang="en-US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Georgia"/>
                          <a:ea typeface="Georgia"/>
                        </a:rPr>
                        <a:t>1 · Reseller</a:t>
                      </a:r>
                      <a:endParaRPr b="0" lang="en-US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Georgia"/>
                          <a:ea typeface="Georgia"/>
                        </a:rPr>
                        <a:t>2 · White-Label</a:t>
                      </a:r>
                      <a:endParaRPr b="0" lang="en-US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Georgia"/>
                          <a:ea typeface="Georgia"/>
                        </a:rPr>
                        <a:t>3 · Joint Venture</a:t>
                      </a:r>
                      <a:endParaRPr b="0" lang="en-US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Georgia"/>
                          <a:ea typeface="Georgia"/>
                        </a:rPr>
                        <a:t>4 · Voucher Hybrid</a:t>
                      </a:r>
                      <a:endParaRPr b="0" lang="en-US" sz="12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d0103a"/>
                    </a:solidFill>
                  </a:tcPr>
                </a:tc>
              </a:tr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trike="noStrike" u="none">
                          <a:solidFill>
                            <a:srgbClr val="f2b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Upfront capital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US$15,000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US$25,000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US$5,000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US$10,000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</a:tr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trike="noStrike" u="none">
                          <a:solidFill>
                            <a:srgbClr val="f2b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Operational effort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Extremely high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Very low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Low (oversight)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Medium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</a:tr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trike="noStrike" u="none">
                          <a:solidFill>
                            <a:srgbClr val="f2b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Time to market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3–4 months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4–5 months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1–2 months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 months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</a:tr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trike="noStrike" u="none">
                          <a:solidFill>
                            <a:srgbClr val="f2b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Primary revenue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Product markups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Licensing fees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Net profit pool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Commission + float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6304f"/>
                    </a:solidFill>
                  </a:tcPr>
                </a:tc>
              </a:tr>
              <a:tr h="383760"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00" strike="noStrike" u="none">
                          <a:solidFill>
                            <a:srgbClr val="f2b23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TM PnP risk tier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Zero risk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Technology buyer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Co-owner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 tIns="91440" bIns="91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00" strike="noStrike" u="none">
                          <a:solidFill>
                            <a:srgbClr val="e3eaf4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Channel partner</a:t>
                      </a:r>
                      <a:endParaRPr b="0" lang="en-US" sz="11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10243f"/>
                      </a:solidFill>
                      <a:prstDash val="solid"/>
                    </a:lnL>
                    <a:lnR w="12240">
                      <a:solidFill>
                        <a:srgbClr val="10243f"/>
                      </a:solidFill>
                      <a:prstDash val="solid"/>
                    </a:lnR>
                    <a:lnT w="12240">
                      <a:solidFill>
                        <a:srgbClr val="10243f"/>
                      </a:solidFill>
                      <a:prstDash val="solid"/>
                    </a:lnT>
                    <a:lnB w="12240">
                      <a:solidFill>
                        <a:srgbClr val="10243f"/>
                      </a:solidFill>
                      <a:prstDash val="soli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07 · CRITICAL INTEGRATIONS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09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Building beyond the current platform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6"/>
          <p:cNvSpPr/>
          <p:nvPr/>
        </p:nvSpPr>
        <p:spPr>
          <a:xfrm>
            <a:off x="411480" y="157284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Three new components layer over the existing web framework.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411480" y="1965960"/>
            <a:ext cx="2651400" cy="2377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8"/>
          <p:cNvSpPr/>
          <p:nvPr/>
        </p:nvSpPr>
        <p:spPr>
          <a:xfrm>
            <a:off x="640080" y="21945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9"/>
          <p:cNvSpPr/>
          <p:nvPr/>
        </p:nvSpPr>
        <p:spPr>
          <a:xfrm>
            <a:off x="640080" y="23500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Geo-fenced marketing core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0"/>
          <p:cNvSpPr/>
          <p:nvPr/>
        </p:nvSpPr>
        <p:spPr>
          <a:xfrm>
            <a:off x="640080" y="292608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Hyper-targeted social and digital advertising aimed at high-density Zimbabwean pockets — Hillbrow and Randburg in South Africa, London and Leeds in the UK.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1"/>
          <p:cNvSpPr/>
          <p:nvPr/>
        </p:nvSpPr>
        <p:spPr>
          <a:xfrm>
            <a:off x="3246120" y="1965960"/>
            <a:ext cx="2651400" cy="2377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3474720" y="21945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3"/>
          <p:cNvSpPr/>
          <p:nvPr/>
        </p:nvSpPr>
        <p:spPr>
          <a:xfrm>
            <a:off x="3474720" y="23500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API logistics middleware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3474720" y="292608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A dispatch interface linking the TM PnP back-end to localized courier networks and on-demand e-bike fleets for route optimisation and proof of delivery.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080760" y="1965960"/>
            <a:ext cx="2651400" cy="2377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309360" y="2194560"/>
            <a:ext cx="411120" cy="5436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6480" bIns="-648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309360" y="2350080"/>
            <a:ext cx="21942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Real-time substitution logic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8"/>
          <p:cNvSpPr/>
          <p:nvPr/>
        </p:nvSpPr>
        <p:spPr>
          <a:xfrm>
            <a:off x="6309360" y="2926080"/>
            <a:ext cx="21942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An automated WhatsApp bot lets the sender or recipient approve alternatives instantly when an item goes out of stock during picking.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6" name="Image 0" descr="preencoded.png"/>
          <p:cNvPicPr/>
          <p:nvPr/>
        </p:nvPicPr>
        <p:blipFill>
          <a:blip r:embed="rId1"/>
          <a:stretch/>
        </p:blipFill>
        <p:spPr>
          <a:xfrm>
            <a:off x="4937760" y="0"/>
            <a:ext cx="420588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Shape 0"/>
          <p:cNvSpPr/>
          <p:nvPr/>
        </p:nvSpPr>
        <p:spPr>
          <a:xfrm>
            <a:off x="0" y="0"/>
            <a:ext cx="5486040" cy="5143320"/>
          </a:xfrm>
          <a:prstGeom prst="rect">
            <a:avLst/>
          </a:prstGeom>
          <a:solidFill>
            <a:srgbClr val="a50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9" name="Image 1" descr="preencoded.png"/>
          <p:cNvPicPr/>
          <p:nvPr/>
        </p:nvPicPr>
        <p:blipFill>
          <a:blip r:embed="rId2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Text 2"/>
          <p:cNvSpPr/>
          <p:nvPr/>
        </p:nvSpPr>
        <p:spPr>
          <a:xfrm>
            <a:off x="1920240" y="30168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SLIDE 08 · FIRST-MOVER ADVANTAGE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3"/>
          <p:cNvSpPr/>
          <p:nvPr/>
        </p:nvSpPr>
        <p:spPr>
          <a:xfrm>
            <a:off x="489204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ab6c8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411480" y="868680"/>
            <a:ext cx="4845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 defensive moat against OK Zimbabwe &amp; Choppies</a:t>
            </a:r>
            <a:endParaRPr b="0" lang="en-US" sz="2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6"/>
          <p:cNvSpPr/>
          <p:nvPr/>
        </p:nvSpPr>
        <p:spPr>
          <a:xfrm>
            <a:off x="411480" y="1783080"/>
            <a:ext cx="4845960" cy="123408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621720" y="1947600"/>
            <a:ext cx="1599840" cy="273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621720" y="1947600"/>
            <a:ext cx="159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a50c2d"/>
                </a:solidFill>
                <a:effectLst/>
                <a:uFillTx/>
                <a:latin typeface="Calibri"/>
                <a:ea typeface="Calibri"/>
              </a:rPr>
              <a:t>Market leadership</a:t>
            </a:r>
            <a:endParaRPr b="0" lang="en-US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621720" y="2313360"/>
            <a:ext cx="44344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de7ec"/>
                </a:solidFill>
                <a:effectLst/>
                <a:uFillTx/>
                <a:latin typeface="Calibri"/>
                <a:ea typeface="Calibri"/>
              </a:rPr>
              <a:t>While competitors stay focused on brick-and-mortar or basic localized delivery, TM PnP becomes the definitive cross-border retail pipeline for the diaspora ecosystem.</a:t>
            </a:r>
            <a:endParaRPr b="0" lang="en-US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0"/>
          <p:cNvSpPr/>
          <p:nvPr/>
        </p:nvSpPr>
        <p:spPr>
          <a:xfrm>
            <a:off x="411480" y="3154680"/>
            <a:ext cx="4845960" cy="123408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1"/>
          <p:cNvSpPr/>
          <p:nvPr/>
        </p:nvSpPr>
        <p:spPr>
          <a:xfrm>
            <a:off x="621720" y="3319200"/>
            <a:ext cx="1599840" cy="273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621720" y="3319200"/>
            <a:ext cx="1599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a50c2d"/>
                </a:solidFill>
                <a:effectLst/>
                <a:uFillTx/>
                <a:latin typeface="Calibri"/>
                <a:ea typeface="Calibri"/>
              </a:rPr>
              <a:t>Maximising group assets</a:t>
            </a:r>
            <a:endParaRPr b="0" lang="en-US" sz="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621720" y="3684960"/>
            <a:ext cx="44344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fde7ec"/>
                </a:solidFill>
                <a:effectLst/>
                <a:uFillTx/>
                <a:latin typeface="Calibri"/>
                <a:ea typeface="Calibri"/>
              </a:rPr>
              <a:t>Collection desks convert into high-volume dispatch stations, lifting stock turnover speed across all primary product lines.</a:t>
            </a:r>
            <a:endParaRPr b="0" lang="en-US" sz="11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d0103a"/>
                </a:solidFill>
                <a:effectLst/>
                <a:uFillTx/>
                <a:latin typeface="Calibri"/>
                <a:ea typeface="Calibri"/>
              </a:rPr>
              <a:t>SLIDE 09 · VALUE PROPOSITION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What the platform uniquely delivers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6"/>
          <p:cNvSpPr/>
          <p:nvPr/>
        </p:nvSpPr>
        <p:spPr>
          <a:xfrm>
            <a:off x="411480" y="164592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7"/>
          <p:cNvSpPr/>
          <p:nvPr/>
        </p:nvSpPr>
        <p:spPr>
          <a:xfrm>
            <a:off x="594360" y="181044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8"/>
          <p:cNvSpPr/>
          <p:nvPr/>
        </p:nvSpPr>
        <p:spPr>
          <a:xfrm>
            <a:off x="594360" y="193860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White-label solution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9"/>
          <p:cNvSpPr/>
          <p:nvPr/>
        </p:nvSpPr>
        <p:spPr>
          <a:xfrm>
            <a:off x="594360" y="232272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Customizable platform retailers brand as their own, with flexible commercial models — subscription or commission-based.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10"/>
          <p:cNvSpPr/>
          <p:nvPr/>
        </p:nvSpPr>
        <p:spPr>
          <a:xfrm>
            <a:off x="2642760" y="164592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1"/>
          <p:cNvSpPr/>
          <p:nvPr/>
        </p:nvSpPr>
        <p:spPr>
          <a:xfrm>
            <a:off x="2825640" y="181044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2"/>
          <p:cNvSpPr/>
          <p:nvPr/>
        </p:nvSpPr>
        <p:spPr>
          <a:xfrm>
            <a:off x="2825640" y="193860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Time-to-market advantage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3"/>
          <p:cNvSpPr/>
          <p:nvPr/>
        </p:nvSpPr>
        <p:spPr>
          <a:xfrm>
            <a:off x="2825640" y="232272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Leverage existing integrations (API, SIM switch, payments) to launch quickly and capture customers before competitors.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4"/>
          <p:cNvSpPr/>
          <p:nvPr/>
        </p:nvSpPr>
        <p:spPr>
          <a:xfrm>
            <a:off x="4873680" y="164592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15"/>
          <p:cNvSpPr/>
          <p:nvPr/>
        </p:nvSpPr>
        <p:spPr>
          <a:xfrm>
            <a:off x="5056560" y="181044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6"/>
          <p:cNvSpPr/>
          <p:nvPr/>
        </p:nvSpPr>
        <p:spPr>
          <a:xfrm>
            <a:off x="5056560" y="193860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Robust and secure platform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7"/>
          <p:cNvSpPr/>
          <p:nvPr/>
        </p:nvSpPr>
        <p:spPr>
          <a:xfrm>
            <a:off x="5056560" y="232272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A reliable, scalable and secure system compared to informal, unregulated channels.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18"/>
          <p:cNvSpPr/>
          <p:nvPr/>
        </p:nvSpPr>
        <p:spPr>
          <a:xfrm>
            <a:off x="7104960" y="164592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9"/>
          <p:cNvSpPr/>
          <p:nvPr/>
        </p:nvSpPr>
        <p:spPr>
          <a:xfrm>
            <a:off x="7287840" y="181044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20"/>
          <p:cNvSpPr/>
          <p:nvPr/>
        </p:nvSpPr>
        <p:spPr>
          <a:xfrm>
            <a:off x="7287840" y="193860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Bank-agnostic integration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1"/>
          <p:cNvSpPr/>
          <p:nvPr/>
        </p:nvSpPr>
        <p:spPr>
          <a:xfrm>
            <a:off x="7287840" y="232272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Participation across multiple banks, expanding reach and customer access.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2"/>
          <p:cNvSpPr/>
          <p:nvPr/>
        </p:nvSpPr>
        <p:spPr>
          <a:xfrm>
            <a:off x="411480" y="316368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23"/>
          <p:cNvSpPr/>
          <p:nvPr/>
        </p:nvSpPr>
        <p:spPr>
          <a:xfrm>
            <a:off x="594360" y="332856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4"/>
          <p:cNvSpPr/>
          <p:nvPr/>
        </p:nvSpPr>
        <p:spPr>
          <a:xfrm>
            <a:off x="594360" y="345636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Critical mass creation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5"/>
          <p:cNvSpPr/>
          <p:nvPr/>
        </p:nvSpPr>
        <p:spPr>
          <a:xfrm>
            <a:off x="594360" y="38404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Support in building user adoption through partnerships with banks and diaspora communities.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6"/>
          <p:cNvSpPr/>
          <p:nvPr/>
        </p:nvSpPr>
        <p:spPr>
          <a:xfrm>
            <a:off x="2642760" y="316368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7"/>
          <p:cNvSpPr/>
          <p:nvPr/>
        </p:nvSpPr>
        <p:spPr>
          <a:xfrm>
            <a:off x="2825640" y="332856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8"/>
          <p:cNvSpPr/>
          <p:nvPr/>
        </p:nvSpPr>
        <p:spPr>
          <a:xfrm>
            <a:off x="2825640" y="345636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Hybrid commercial model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9"/>
          <p:cNvSpPr/>
          <p:nvPr/>
        </p:nvSpPr>
        <p:spPr>
          <a:xfrm>
            <a:off x="2825640" y="38404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Transaction fees, subscription or discounts — flexibility for different business strategies.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0"/>
          <p:cNvSpPr/>
          <p:nvPr/>
        </p:nvSpPr>
        <p:spPr>
          <a:xfrm>
            <a:off x="4873680" y="316368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1"/>
          <p:cNvSpPr/>
          <p:nvPr/>
        </p:nvSpPr>
        <p:spPr>
          <a:xfrm>
            <a:off x="5056560" y="332856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32"/>
          <p:cNvSpPr/>
          <p:nvPr/>
        </p:nvSpPr>
        <p:spPr>
          <a:xfrm>
            <a:off x="5056560" y="345636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Adaptability to market dynamics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33"/>
          <p:cNvSpPr/>
          <p:nvPr/>
        </p:nvSpPr>
        <p:spPr>
          <a:xfrm>
            <a:off x="5056560" y="38404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Analytics to adjust pricing, packaging and delivery models as consumer behaviour shifts.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34"/>
          <p:cNvSpPr/>
          <p:nvPr/>
        </p:nvSpPr>
        <p:spPr>
          <a:xfrm>
            <a:off x="7104960" y="3163680"/>
            <a:ext cx="2011320" cy="13528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35"/>
          <p:cNvSpPr/>
          <p:nvPr/>
        </p:nvSpPr>
        <p:spPr>
          <a:xfrm>
            <a:off x="7287840" y="3328560"/>
            <a:ext cx="365400" cy="50040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9360" bIns="-936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6"/>
          <p:cNvSpPr/>
          <p:nvPr/>
        </p:nvSpPr>
        <p:spPr>
          <a:xfrm>
            <a:off x="7287840" y="3456360"/>
            <a:ext cx="1645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trike="noStrike" u="none">
                <a:solidFill>
                  <a:srgbClr val="1b3a6b"/>
                </a:solidFill>
                <a:effectLst/>
                <a:uFillTx/>
                <a:latin typeface="Georgia"/>
                <a:ea typeface="Georgia"/>
              </a:rPr>
              <a:t>Direct-to-Consumer</a:t>
            </a:r>
            <a:endParaRPr b="0" lang="en-US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7"/>
          <p:cNvSpPr/>
          <p:nvPr/>
        </p:nvSpPr>
        <p:spPr>
          <a:xfrm>
            <a:off x="7287840" y="3840480"/>
            <a:ext cx="16455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5c6779"/>
                </a:solidFill>
                <a:effectLst/>
                <a:uFillTx/>
                <a:latin typeface="Calibri"/>
                <a:ea typeface="Calibri"/>
              </a:rPr>
              <a:t>Moving beyond brick-and-mortar retail into a direct relationship with the shopper.</a:t>
            </a:r>
            <a:endParaRPr b="0" lang="en-US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0"/>
          <p:cNvSpPr/>
          <p:nvPr/>
        </p:nvSpPr>
        <p:spPr>
          <a:xfrm>
            <a:off x="411480" y="274320"/>
            <a:ext cx="1371240" cy="365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2" name="Image 0" descr="preencoded.png"/>
          <p:cNvPicPr/>
          <p:nvPr/>
        </p:nvPicPr>
        <p:blipFill>
          <a:blip r:embed="rId1"/>
          <a:stretch/>
        </p:blipFill>
        <p:spPr>
          <a:xfrm>
            <a:off x="484560" y="338400"/>
            <a:ext cx="122508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Text 1"/>
          <p:cNvSpPr/>
          <p:nvPr/>
        </p:nvSpPr>
        <p:spPr>
          <a:xfrm>
            <a:off x="1920240" y="301680"/>
            <a:ext cx="6263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SLIDE 10 · BENEFITS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2"/>
          <p:cNvSpPr/>
          <p:nvPr/>
        </p:nvSpPr>
        <p:spPr>
          <a:xfrm>
            <a:off x="8229600" y="301680"/>
            <a:ext cx="502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trike="noStrike" u="none">
                <a:solidFill>
                  <a:srgbClr val="aab6c8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b="0" lang="en-U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41148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TM Pick n Pay Express — Diaspora-to-Door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4"/>
          <p:cNvSpPr/>
          <p:nvPr/>
        </p:nvSpPr>
        <p:spPr>
          <a:xfrm>
            <a:off x="4160520" y="468648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Confidential · Executive Board Proposal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5"/>
          <p:cNvSpPr/>
          <p:nvPr/>
        </p:nvSpPr>
        <p:spPr>
          <a:xfrm>
            <a:off x="411480" y="868680"/>
            <a:ext cx="8320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Benefits to TM Pick n Pay and the market</a:t>
            </a:r>
            <a:endParaRPr b="0" lang="en-US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6"/>
          <p:cNvSpPr/>
          <p:nvPr/>
        </p:nvSpPr>
        <p:spPr>
          <a:xfrm>
            <a:off x="411480" y="162756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7"/>
          <p:cNvSpPr/>
          <p:nvPr/>
        </p:nvSpPr>
        <p:spPr>
          <a:xfrm>
            <a:off x="576000" y="17740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8"/>
          <p:cNvSpPr/>
          <p:nvPr/>
        </p:nvSpPr>
        <p:spPr>
          <a:xfrm>
            <a:off x="777240" y="171900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Faster market entry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9"/>
          <p:cNvSpPr/>
          <p:nvPr/>
        </p:nvSpPr>
        <p:spPr>
          <a:xfrm>
            <a:off x="777240" y="19386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Existing developer integrations accelerate rollout.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10"/>
          <p:cNvSpPr/>
          <p:nvPr/>
        </p:nvSpPr>
        <p:spPr>
          <a:xfrm>
            <a:off x="3300840" y="162756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1"/>
          <p:cNvSpPr/>
          <p:nvPr/>
        </p:nvSpPr>
        <p:spPr>
          <a:xfrm>
            <a:off x="3465720" y="17740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2"/>
          <p:cNvSpPr/>
          <p:nvPr/>
        </p:nvSpPr>
        <p:spPr>
          <a:xfrm>
            <a:off x="3666600" y="171900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Customer convenience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3"/>
          <p:cNvSpPr/>
          <p:nvPr/>
        </p:nvSpPr>
        <p:spPr>
          <a:xfrm>
            <a:off x="3666600" y="19386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Digital shift lets diaspora and local customers buy from anywhere.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4"/>
          <p:cNvSpPr/>
          <p:nvPr/>
        </p:nvSpPr>
        <p:spPr>
          <a:xfrm>
            <a:off x="6190560" y="162756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15"/>
          <p:cNvSpPr/>
          <p:nvPr/>
        </p:nvSpPr>
        <p:spPr>
          <a:xfrm>
            <a:off x="6355080" y="17740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6"/>
          <p:cNvSpPr/>
          <p:nvPr/>
        </p:nvSpPr>
        <p:spPr>
          <a:xfrm>
            <a:off x="6556320" y="171900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Expanded customer base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7"/>
          <p:cNvSpPr/>
          <p:nvPr/>
        </p:nvSpPr>
        <p:spPr>
          <a:xfrm>
            <a:off x="6556320" y="19386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Diaspora markets plus multiple banks' captured audiences.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8"/>
          <p:cNvSpPr/>
          <p:nvPr/>
        </p:nvSpPr>
        <p:spPr>
          <a:xfrm>
            <a:off x="411480" y="237744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9"/>
          <p:cNvSpPr/>
          <p:nvPr/>
        </p:nvSpPr>
        <p:spPr>
          <a:xfrm>
            <a:off x="576000" y="252360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0"/>
          <p:cNvSpPr/>
          <p:nvPr/>
        </p:nvSpPr>
        <p:spPr>
          <a:xfrm>
            <a:off x="777240" y="246888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Replacement of informal trading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1"/>
          <p:cNvSpPr/>
          <p:nvPr/>
        </p:nvSpPr>
        <p:spPr>
          <a:xfrm>
            <a:off x="777240" y="268848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A legitimate, tax-compliant alternative to unreliable channels.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2"/>
          <p:cNvSpPr/>
          <p:nvPr/>
        </p:nvSpPr>
        <p:spPr>
          <a:xfrm>
            <a:off x="3300840" y="237744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23"/>
          <p:cNvSpPr/>
          <p:nvPr/>
        </p:nvSpPr>
        <p:spPr>
          <a:xfrm>
            <a:off x="3465720" y="252360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4"/>
          <p:cNvSpPr/>
          <p:nvPr/>
        </p:nvSpPr>
        <p:spPr>
          <a:xfrm>
            <a:off x="3666600" y="246888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Cross-border resilience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5"/>
          <p:cNvSpPr/>
          <p:nvPr/>
        </p:nvSpPr>
        <p:spPr>
          <a:xfrm>
            <a:off x="3666600" y="268848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Bypasses constraints on physical goods movement between countries.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26"/>
          <p:cNvSpPr/>
          <p:nvPr/>
        </p:nvSpPr>
        <p:spPr>
          <a:xfrm>
            <a:off x="6190560" y="237744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27"/>
          <p:cNvSpPr/>
          <p:nvPr/>
        </p:nvSpPr>
        <p:spPr>
          <a:xfrm>
            <a:off x="6355080" y="252360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8"/>
          <p:cNvSpPr/>
          <p:nvPr/>
        </p:nvSpPr>
        <p:spPr>
          <a:xfrm>
            <a:off x="6556320" y="246888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Economies of scale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9"/>
          <p:cNvSpPr/>
          <p:nvPr/>
        </p:nvSpPr>
        <p:spPr>
          <a:xfrm>
            <a:off x="6556320" y="268848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Better prices and smaller packages matched to consumer cash flow.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30"/>
          <p:cNvSpPr/>
          <p:nvPr/>
        </p:nvSpPr>
        <p:spPr>
          <a:xfrm>
            <a:off x="411480" y="312732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31"/>
          <p:cNvSpPr/>
          <p:nvPr/>
        </p:nvSpPr>
        <p:spPr>
          <a:xfrm>
            <a:off x="576000" y="32734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2"/>
          <p:cNvSpPr/>
          <p:nvPr/>
        </p:nvSpPr>
        <p:spPr>
          <a:xfrm>
            <a:off x="777240" y="321876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Increased loyalty &amp; retention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3"/>
          <p:cNvSpPr/>
          <p:nvPr/>
        </p:nvSpPr>
        <p:spPr>
          <a:xfrm>
            <a:off x="777240" y="34380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Secure, reliable delivery builds trust vs informal traders.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4"/>
          <p:cNvSpPr/>
          <p:nvPr/>
        </p:nvSpPr>
        <p:spPr>
          <a:xfrm>
            <a:off x="3300840" y="312732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5"/>
          <p:cNvSpPr/>
          <p:nvPr/>
        </p:nvSpPr>
        <p:spPr>
          <a:xfrm>
            <a:off x="3465720" y="32734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6"/>
          <p:cNvSpPr/>
          <p:nvPr/>
        </p:nvSpPr>
        <p:spPr>
          <a:xfrm>
            <a:off x="3666600" y="321876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Revenue diversification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7"/>
          <p:cNvSpPr/>
          <p:nvPr/>
        </p:nvSpPr>
        <p:spPr>
          <a:xfrm>
            <a:off x="3666600" y="34380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Subscriptions, fees or discounts plus wholesale partnerships.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8"/>
          <p:cNvSpPr/>
          <p:nvPr/>
        </p:nvSpPr>
        <p:spPr>
          <a:xfrm>
            <a:off x="6190560" y="312732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39"/>
          <p:cNvSpPr/>
          <p:nvPr/>
        </p:nvSpPr>
        <p:spPr>
          <a:xfrm>
            <a:off x="6355080" y="327348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40"/>
          <p:cNvSpPr/>
          <p:nvPr/>
        </p:nvSpPr>
        <p:spPr>
          <a:xfrm>
            <a:off x="6556320" y="321876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Scalability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1"/>
          <p:cNvSpPr/>
          <p:nvPr/>
        </p:nvSpPr>
        <p:spPr>
          <a:xfrm>
            <a:off x="6556320" y="343800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Regional expansion with packaging adapted to local needs.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42"/>
          <p:cNvSpPr/>
          <p:nvPr/>
        </p:nvSpPr>
        <p:spPr>
          <a:xfrm>
            <a:off x="411480" y="387720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3"/>
          <p:cNvSpPr/>
          <p:nvPr/>
        </p:nvSpPr>
        <p:spPr>
          <a:xfrm>
            <a:off x="576000" y="402336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4"/>
          <p:cNvSpPr/>
          <p:nvPr/>
        </p:nvSpPr>
        <p:spPr>
          <a:xfrm>
            <a:off x="777240" y="396864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Convenience-driven adoption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5"/>
          <p:cNvSpPr/>
          <p:nvPr/>
        </p:nvSpPr>
        <p:spPr>
          <a:xfrm>
            <a:off x="777240" y="418788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Small daily-use packages fit township and village habits.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6"/>
          <p:cNvSpPr/>
          <p:nvPr/>
        </p:nvSpPr>
        <p:spPr>
          <a:xfrm>
            <a:off x="3300840" y="3877200"/>
            <a:ext cx="2724480" cy="658080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47"/>
          <p:cNvSpPr/>
          <p:nvPr/>
        </p:nvSpPr>
        <p:spPr>
          <a:xfrm>
            <a:off x="3465720" y="4023360"/>
            <a:ext cx="109440" cy="109440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48"/>
          <p:cNvSpPr/>
          <p:nvPr/>
        </p:nvSpPr>
        <p:spPr>
          <a:xfrm>
            <a:off x="3666600" y="3968640"/>
            <a:ext cx="2175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Government alignment</a:t>
            </a:r>
            <a:endParaRPr b="0" lang="en-US" sz="1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9"/>
          <p:cNvSpPr/>
          <p:nvPr/>
        </p:nvSpPr>
        <p:spPr>
          <a:xfrm>
            <a:off x="3666600" y="4187880"/>
            <a:ext cx="2175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Formalized trade supports taxation and regulation.</a:t>
            </a:r>
            <a:endParaRPr b="0" lang="en-US" sz="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749040" y="960120"/>
            <a:ext cx="1645560" cy="4568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Image 0" descr="preencoded.png"/>
          <p:cNvPicPr/>
          <p:nvPr/>
        </p:nvPicPr>
        <p:blipFill>
          <a:blip r:embed="rId1"/>
          <a:stretch/>
        </p:blipFill>
        <p:spPr>
          <a:xfrm>
            <a:off x="3840480" y="1051560"/>
            <a:ext cx="1462680" cy="28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Text 1"/>
          <p:cNvSpPr/>
          <p:nvPr/>
        </p:nvSpPr>
        <p:spPr>
          <a:xfrm>
            <a:off x="914400" y="178308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Turn 57+ branches into a diaspora fulfilment network</a:t>
            </a:r>
            <a:endParaRPr b="0" lang="en-US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2"/>
          <p:cNvSpPr/>
          <p:nvPr/>
        </p:nvSpPr>
        <p:spPr>
          <a:xfrm>
            <a:off x="4023360" y="2971800"/>
            <a:ext cx="1096920" cy="727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6840" bIns="684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3"/>
          <p:cNvSpPr/>
          <p:nvPr/>
        </p:nvSpPr>
        <p:spPr>
          <a:xfrm>
            <a:off x="1463040" y="3291840"/>
            <a:ext cx="6217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c6d3e4"/>
                </a:solidFill>
                <a:effectLst/>
                <a:uFillTx/>
                <a:latin typeface="Calibri"/>
                <a:ea typeface="Calibri"/>
              </a:rPr>
              <a:t>Recommended next step: select a commercial structure and mandate a 60-day pilot on two flagship Harare branches.</a:t>
            </a:r>
            <a:endParaRPr b="0" lang="en-US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4"/>
          <p:cNvSpPr/>
          <p:nvPr/>
        </p:nvSpPr>
        <p:spPr>
          <a:xfrm>
            <a:off x="411480" y="46864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TM Pick n Pay Express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"/>
          <p:cNvSpPr/>
          <p:nvPr/>
        </p:nvSpPr>
        <p:spPr>
          <a:xfrm>
            <a:off x="5074920" y="46864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8c9bb0"/>
                </a:solidFill>
                <a:effectLst/>
                <a:uFillTx/>
                <a:latin typeface="Calibri"/>
                <a:ea typeface="Calibri"/>
              </a:rPr>
              <a:t>Thank you</a:t>
            </a:r>
            <a:endParaRPr b="0" lang="en-US" sz="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LibreOffice/25.2.6.2$Linux_X86_64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2026-08-14T10:09:58Z</dcterms:created>
  <dc:creator>PptxGenJS</dc:creator>
  <dc:description/>
  <dc:language>en-US</dc:language>
  <cp:lastModifiedBy>PptxGenJS</cp:lastModifiedBy>
  <dcterms:modified xsi:type="dcterms:W3CDTF">2026-08-14T10:09:58Z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On-screen Show (16:9)</vt:lpwstr>
  </property>
  <property fmtid="{D5CDD505-2E9C-101B-9397-08002B2CF9AE}" pid="4" name="Slides">
    <vt:r8>14</vt:r8>
  </property>
</Properties>
</file>