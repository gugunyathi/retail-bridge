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4" name="Shape 1"/>
          <p:cNvSpPr/>
          <p:nvPr/>
        </p:nvSpPr>
        <p:spPr>
          <a:xfrm>
            <a:off x="5120640" y="0"/>
            <a:ext cx="1005840" cy="5143500"/>
          </a:xfrm>
          <a:prstGeom prst="rect">
            <a:avLst/>
          </a:prstGeom>
          <a:solidFill>
            <a:srgbClr val="10243F">
              <a:alpha val="55000"/>
            </a:srgbClr>
          </a:solidFill>
          <a:ln w="12700">
            <a:solidFill>
              <a:srgbClr val="1024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411480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93776"/>
            <a:ext cx="1463040" cy="283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PROPOSAL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11480" y="1828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 Pick n Pay Express</a:t>
            </a:r>
            <a:endParaRPr lang="en-US" sz="3300" dirty="0"/>
          </a:p>
        </p:txBody>
      </p:sp>
      <p:sp>
        <p:nvSpPr>
          <p:cNvPr id="9" name="Text 5"/>
          <p:cNvSpPr/>
          <p:nvPr/>
        </p:nvSpPr>
        <p:spPr>
          <a:xfrm>
            <a:off x="41148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Click &amp; Collect into Diaspora-to-Door delivery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11480" y="342900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Board · TM Pick n Pay Zimbabwe &amp; Meikles Limited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· THE OPPORTUNITY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Monetising the digital infrastructure you already own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9202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0665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633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tmpnponline.co.zw and the dedicated app are already live, running localized Click &amp; Collect across the estate.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9202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0665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optimization gap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29000" y="2633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demands transport, fuel and time. Diaspora buyers still pay Malayitsha vans purely for doorstep convenience.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932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19202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0665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value proposition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17920" y="2633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Diaspora UI mode plus a decentralised last-mile network turns 57+ branches into on-demand fulfilment nodes.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3703320"/>
            <a:ext cx="832104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STATUS QUO VS EVOLUTION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Bypassing physical logistics friction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8321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984248"/>
            <a:ext cx="146304" cy="146304"/>
          </a:xfrm>
          <a:prstGeom prst="ellipse">
            <a:avLst/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19019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system — Click &amp; Collect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31720"/>
            <a:ext cx="1842516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331720"/>
            <a:ext cx="1842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shopper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47188" y="2331720"/>
            <a:ext cx="1842516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47188" y="2331720"/>
            <a:ext cx="1842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order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4296" y="2331720"/>
            <a:ext cx="1842516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96" y="2331720"/>
            <a:ext cx="1842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must travel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61404" y="2331720"/>
            <a:ext cx="1842516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1404" y="2331720"/>
            <a:ext cx="1842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branches only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2971800"/>
            <a:ext cx="8321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172968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3090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evolution — On-demand diaspora engine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3520440"/>
            <a:ext cx="1441094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52044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shopper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245766" y="3520440"/>
            <a:ext cx="1441094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45766" y="352044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51453" y="3520440"/>
            <a:ext cx="1441094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51453" y="352044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US$ gateway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57139" y="3520440"/>
            <a:ext cx="1441094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57139" y="352044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courier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062826" y="3520440"/>
            <a:ext cx="1441094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2826" y="352044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Recipient's door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4160520"/>
            <a:ext cx="4069080" cy="54864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160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and elderly recipients cannot easily reach a flagship urban branch to collect heavy hampers.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3440" y="4160520"/>
            <a:ext cx="4069080" cy="548640"/>
          </a:xfrm>
          <a:prstGeom prst="roundRect">
            <a:avLst>
              <a:gd name="adj" fmla="val 13333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4160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Door-to-door fulfilment adds sponsors who want confirmation that food arrived safely.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P&amp;L ASSUMPTIONS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Monetising every stage of the cross-border basket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1929384" cy="1097280"/>
          </a:xfrm>
          <a:prstGeom prst="roundRect">
            <a:avLst>
              <a:gd name="adj" fmla="val 6667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4360" y="2450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diaspora customers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23744" y="1783080"/>
            <a:ext cx="1929384" cy="1097280"/>
          </a:xfrm>
          <a:prstGeom prst="roundRect">
            <a:avLst>
              <a:gd name="adj" fmla="val 6667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6624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706624" y="2450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month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36008" y="1783080"/>
            <a:ext cx="1929384" cy="1097280"/>
          </a:xfrm>
          <a:prstGeom prst="roundRect">
            <a:avLst>
              <a:gd name="adj" fmla="val 6667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8888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US$85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818888" y="2450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48272" y="1783080"/>
            <a:ext cx="1929384" cy="1097280"/>
          </a:xfrm>
          <a:prstGeom prst="roundRect">
            <a:avLst>
              <a:gd name="adj" fmla="val 6667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31152" y="2450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306324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GROSS MERCHANDISE VALUE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3520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US$61,200,000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5486400" y="3291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customers × 1.5 orders × US$85 × 12 months — migrated from cash remittances and Malayitsha vans into a tracked US$ retail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FIVE REVENUE STREAMS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stacked revenue streams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Retail product margins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captured on goods otherwise bought in South African cash-and-carries. 21% gross margin.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US$12,852,000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Last-mile delivery share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2900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US$4.50 fee within 10km; the platform retains US$1.50 net per drop.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2900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US$1,080,000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080760" y="1783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Cross-border surcharge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checkout fee on international cards originating outside Zimbabwe.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US$1,836,000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1546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Diaspora Priority tiers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4360" y="3593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US$8.99/month for free delivery and recurring staple baskets. 15% adoption.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US$647,280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246120" y="31546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Retail media network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429000" y="3593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brands bid for sponsored placement in front of high-spend diaspora buyers.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42900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US$734,400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080760" y="31546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3337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ECOSYSTEM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6364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US$17,149,680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26364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revenue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REVENUE BREAKDOWN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total ecosystem annual revenue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1148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US$17,149,680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1480" y="2011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retail margins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231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gross retail margin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210312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20848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US$12,852,000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2514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2734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US$1.50 net per drop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0" y="260604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2606040"/>
            <a:ext cx="334255" cy="274320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2587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US$1,080,000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" y="3017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tech surcharge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11480" y="3236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on international cards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91840" y="310896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3108960"/>
            <a:ext cx="568234" cy="274320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30906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US$1,836,000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11480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Priority subscriptions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739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subscribers @ US$8.99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91840" y="361188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361188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35935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US$647,280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11480" y="4023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Supplier-funded retail media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11480" y="4242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 of platform GMV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91840" y="4114800"/>
            <a:ext cx="3977640" cy="274320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91840" y="41148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06640" y="4096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US$734,400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BUSINESS MODEL OPTIONS 1–2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risk, capital and structure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18836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54480" y="1847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Concierge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" y="224028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as a standalone entity mirroring your catalog via API. Senders pay us in US$; we buy stock at a negotiated wholesale discount and fulfil with our own driver network.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2648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2648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US$15,000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28800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828800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US$8,500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044952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044952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markup + 3–5% rebate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17373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10328" y="18836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0328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52160" y="1847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Licensing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910328" y="224028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cross-border storefront extension and license it to TM PnP. It integrates into tmpnponline.co.zw, natively branded, fulfilled by third-party Zimbabwean couriers.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10328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910328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US$25,000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26480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US$2,000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42632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342632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US$40k + US$3.5k/mo or 1.5–2% GMV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BUSINESS MODEL OPTIONS 3–4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and hybrid structures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18836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54480" y="1847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Tripartite Joint Venture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2648" y="224028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+ Quatrohaus / Code Virtus + our firm. We provide the cross-border framework, payment tunnels and diaspora marketing; branch staff pick, third-party bike networks deliver.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2648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2648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US$5,000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28800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828800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in IT budget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044952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044952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20 net profit split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17373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10328" y="18836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0328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52160" y="1847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Remittance Tokens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910328" y="224028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shoppers buy a US$ Eco-Voucher: auto-dispatch a staple hamper by bike courier, or push a secure barcode via SMS/WhatsApp for in-store redemption, bypassing cash-out queues.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10328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910328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US$10,000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26480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US$3,000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42632" y="35661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342632" y="37490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 commission + float yield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CONFIGURATION MATRIX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model comparison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1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· Reseller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1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 · White-Label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1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 · Joint Venture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1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 · Voucher 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10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(oversight)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markups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fees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pool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+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PnP risk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CRITICAL INTEGRATIONS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beyond the current platform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11480" y="1572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components layer over the existing web framework.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488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295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Geo-fenced marketing core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Hyper-targeted social and digital advertising aimed at high-density Zimbabwean pockets — Hillbrow and Randburg in South Africa, London and Leeds in the UK.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9659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4720" y="21488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2295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logistics middleware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2862072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 interface linking the TM PnP back-end to localized courier networks and on-demand e-bike fleets for route optimisation and proof of delivery.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19659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1488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2295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substitution logic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09360" y="2862072"/>
            <a:ext cx="2194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WhatsApp bot lets the sender or recipient approve alternatives instantly when an item goes out of stock during picking.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50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A50C2D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301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FIRST-MOVER ADVANTAGE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89204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defensive moat against OK Zimbabwe &amp; Choppies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411480" y="17830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1792" y="194767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1792" y="1947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23134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competitors stay focused on brick-and-mortar or basic localized delivery, TM PnP becomes the definitive cross-border retail pipeline for the diaspora ecosystem.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" y="31546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" y="331927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" y="3319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group assets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21792" y="36850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desks convert into high-volume dispatch stations, lifting stock turnover speed across all primary product lines.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VALUE PROPOSITION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platform uniquely delivers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4592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810512"/>
            <a:ext cx="36576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solution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3225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platform retailers brand as their own, with flexible commercial models — subscription or commission-based.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42616" y="164592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25496" y="1810512"/>
            <a:ext cx="36576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25496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Time-to-market advantage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825496" y="23225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existing integrations (API, SIM switch, payments) to launch quickly and capture customers before competitors.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73752" y="164592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56632" y="1810512"/>
            <a:ext cx="36576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6632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and secure platform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056632" y="23225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scalable and secure system compared to informal, unregulated channels.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104888" y="164592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87768" y="1810512"/>
            <a:ext cx="36576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87768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Bank-agnostic integration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287768" y="23225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across multiple banks, expanding reach and customer access.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3163824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328416"/>
            <a:ext cx="36576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mass creation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94360" y="38404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 building user adoption through partnerships with banks and diaspora communities.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642616" y="3163824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25496" y="3328416"/>
            <a:ext cx="36576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25496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commercial model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2825496" y="38404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fees, subscription or discounts — flexibility for different business strategies.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73752" y="3163824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56632" y="3328416"/>
            <a:ext cx="36576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56632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Adaptability to market dynamics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056632" y="38404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 adjust pricing, packaging and delivery models as consumer behaviour shifts.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104888" y="3163824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287768" y="3328416"/>
            <a:ext cx="36576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87768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Direct-to-Consumer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287768" y="38404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brick-and-mortar retail into a direct relationship with the shopper.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BENEFITS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to TM Pick n Pay and the market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2763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" y="1773936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71907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market entry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1938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developer integrations accelerate rollout.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00984" y="162763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65576" y="1773936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66744" y="171907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convenience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66744" y="1938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shift lets diaspora and local customers buy from anywhere.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90488" y="162763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55080" y="1773936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171907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 customer base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56248" y="1938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markets plus multiple banks' captured audiences.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377440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" y="2523744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246888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Replacement of informal trading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" y="268833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legitimate, tax-compliant alternative to unreliable channels.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300984" y="2377440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65576" y="2523744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66744" y="246888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resilience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66744" y="268833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constraints on physical goods movement between countries.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190488" y="2377440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2523744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56248" y="246888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Economies of scale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56248" y="268833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prices and smaller packages matched to consumer cash flow.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11480" y="3127248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6072" y="3273552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" y="32186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Increased loyalty &amp; retention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77240" y="343814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reliable delivery builds trust vs informal traders.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300984" y="3127248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65576" y="3273552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66744" y="32186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diversification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666744" y="343814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fees or discounts plus wholesale partnerships.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190488" y="3127248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55080" y="3273552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56248" y="32186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556248" y="343814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with packaging adapted to local needs.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3877056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6072" y="4023360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7240" y="39684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Convenience-driven adoption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77240" y="41879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daily-use packages fit township and village habits.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300984" y="3877056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465576" y="4023360"/>
            <a:ext cx="109728" cy="109728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66744" y="39684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alignment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666744" y="41879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Formalized trade supports taxation and regulation.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· WHY NOW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market access and intelligence — not “a diaspora solution”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4041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87452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020824"/>
            <a:ext cx="3584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Brick-and-mortar is no longer defensible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587752"/>
            <a:ext cx="3584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retail cannot hold share on its own. The defensible asset is the customer relationship, not the store estate.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90872" y="1691640"/>
            <a:ext cx="4041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187452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9472" y="2020824"/>
            <a:ext cx="3584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are price-led, not brand-led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19472" y="2587752"/>
            <a:ext cx="3584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shop the cheapest basket available on the day. Informal channels are winning that comparison by default.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2926080"/>
            <a:ext cx="4041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10896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255264"/>
            <a:ext cx="3584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Malayitsha channel is being constricted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3822192"/>
            <a:ext cx="3584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border posts, electronic travel authority and tighter vehicle declarations are squeezing the informal cross-border van trade.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90872" y="2926080"/>
            <a:ext cx="4041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19472" y="310896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3255264"/>
            <a:ext cx="3584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opening left behind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19472" y="3822192"/>
            <a:ext cx="3584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funding + bank rails + owned delivery + wholesale into the informal channel — a brand that lives in people's homes.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420624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206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discipline: the pitch is market access and demand intelligence. Framed as a diaspora product, it reads as a niche remittance play and stalls in committee.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· DOWNSTREAM INNOVATION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state is a trading platform, not a single-retailer app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184708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Entry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648" y="22128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 Pick n Pay value-add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" y="2596896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Single-tenant. TM branded, TM catalogue, TM fulfilment. The platform earns its place inside one retailer before anything else is discussed.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47288" y="184708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Depth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47288" y="22128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and informal channel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447288" y="2596896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supplies tuck shops and repackagers through the same rails. Volume grows without adding a competing banner to the storefront.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81928" y="184708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81928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End state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81928" y="22128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Retail-agnostic trading platform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81928" y="2596896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asks for cooking oil; the request goes to every participating supplier and the best price wins. Retailers become suppliers on a marketplace.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1480" y="3703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3703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has already been prototyped — three banners running in one app — then deliberately pulled back to a single tenant for the entry conversation.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703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3752" y="3703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is the safeguard: introduce the platform as a TM advantage, without signalling that competitors sit on the same rails on day one.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· PRICE COMPARISON ENGINE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Item-level price comparison is the reason to participate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4572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REQUEST · “COOKING OIL”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258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 · 2L cooking oil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 · 2.1km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520440" y="219456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US$3.10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279806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862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 · 2L cooking oil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3072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slot · 0.8km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520440" y="279806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US$3.45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3401568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4655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 · 2L cooking oil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20440" y="340156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US$3.60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00507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7F7F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690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 shop · 500ml repack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fulfilment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520440" y="400507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US$0.95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16636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94960" y="187452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20208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across every participating supplier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94960" y="2587752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fans out to all listed suppliers. The shopper sees price, distance and slot side by side and picks. Price competition, not shelf position, decides the sale.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6636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94960" y="342900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35753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ranking of most-tradable items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394960" y="4142232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ranks demand by item, area and week — a what-to-stock signal feeding order-to-cash: buy the right depth, in the right pack size, before the demand lands.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A50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· THE REVENUE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that allows a subscription is the model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fees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" y="225856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 rent-to-buy instalments, then a standing platform fee per dollar earned.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47288" y="225856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 livery, in-app placement and supplier media sold as monthly inventory.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1691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192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Garage services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81928" y="225856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Servicing, parts and accessories on a maintenance plan, not a per-repair invoice.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28803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" y="30449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fees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" y="344728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retailer, wholesaler and tuck shop pays a tiered monthly platform fee.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8803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47288" y="30449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Shopper plans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47288" y="344728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delivery and family basket sharing on a recurring plan.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80760" y="28803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C21740"/>
          </a:solidFill>
          <a:ln w="12700">
            <a:solidFill>
              <a:srgbClr val="C217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81928" y="30449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products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81928" y="344728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price intelligence licensed by subscription to suppliers.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" y="41605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above is bent toward recurring revenue. One-off transaction fees fund a project; recurring fees fund a company and give the valuation a base to stand on.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· CONSOLIDATED REVENUE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revenue model: the launch stack plus a recurring layer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45920"/>
            <a:ext cx="48463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MODELLED TODAY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product margins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margin on migrated basket · Transactional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749040" y="21214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US$12,852,000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505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share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26883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US$1.50 net per drop · Transactional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749040" y="2523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US$1,080,000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2907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surcharge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0906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on international cards · Transactional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4904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US$1,836,000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Priority plans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34930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subscribers @ US$8.99 · Recurring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749040" y="33284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US$647,280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3712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 network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38953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 of platform GMV · Semi-recurring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749040" y="3730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US$734,400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160520"/>
            <a:ext cx="4389120" cy="9144"/>
          </a:xfrm>
          <a:prstGeom prst="rect">
            <a:avLst/>
          </a:prstGeom>
          <a:solidFill>
            <a:srgbClr val="E2E5EB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251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ecosystem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0040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0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US$17,149,680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40680" y="1645920"/>
            <a:ext cx="3291840" cy="2971800"/>
          </a:xfrm>
          <a:prstGeom prst="roundRect">
            <a:avLst>
              <a:gd name="adj" fmla="val 246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RECURRING LAYER ADDED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69280" y="2121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platform fees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669280" y="23042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monthly fee per retailer, wholesaler and tuck shop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2578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plans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669280" y="2761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Rent-to-buy instalment, then a standing platform fee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669280" y="3035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&amp; maintenance plans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0" y="3218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servicing and parts cover, not per repair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669280" y="349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price intelligence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669280" y="36758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pricing feeds licensed to suppliers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669280" y="3950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plans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0" y="41330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delivery and shared family baskets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669280" y="43159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per tier still to be set — annual values [TBC] until tenant and rider counts are agreed.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· FUTURE REVENUE MIX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transaction-led to subscription-led as the platform goes agnostic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Diaspora-to-door on TM stock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margin, delivery share and the cross-border surcharge carry the model. One recurring line: Diaspora Priority at US$647,280.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7472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and third retailers onboard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472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platform fees, rider plans and garage plans start billing monthly. Transaction fees stay, but stop being the whole story.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1691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AGNOSTIC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0936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of retailers and tuck shops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across tenants, riders, shoppers and data become the base load; commission rides on top as upside.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397764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ecosystem, valued differently: transaction fees fund a project, recurring fees fund a company.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· OWNED DELIVERY NETWORK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 mile is owned, not outsourced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45920"/>
            <a:ext cx="1929384" cy="960120"/>
          </a:xfrm>
          <a:prstGeom prst="roundRect">
            <a:avLst>
              <a:gd name="adj" fmla="val 761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500–2,000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436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 electric scooters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23744" y="1645920"/>
            <a:ext cx="1929384" cy="960120"/>
          </a:xfrm>
          <a:prstGeom prst="roundRect">
            <a:avLst>
              <a:gd name="adj" fmla="val 761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6624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706624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Rent-to-buy, then the rider owns it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36008" y="1645920"/>
            <a:ext cx="1929384" cy="960120"/>
          </a:xfrm>
          <a:prstGeom prst="roundRect">
            <a:avLst>
              <a:gd name="adj" fmla="val 761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8888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months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818888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pays itself back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48272" y="1645920"/>
            <a:ext cx="1929384" cy="960120"/>
          </a:xfrm>
          <a:prstGeom prst="roundRect">
            <a:avLst>
              <a:gd name="adj" fmla="val 761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931152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per dollar earned after ownership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" y="29077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Rent-to-buy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" y="331012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operates for twelve months and then owns the scooter. The asset repays itself in roughly five months; months six to twelve are margin.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4612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47288" y="29077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rights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447288" y="331012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Livery is sold on subscription: 80% reserved for the anchor retailer, 20% open inventory. A moving media network across every delivery route.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8076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81928" y="29077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garage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81928" y="331012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Repairs, parts and accessories stay inside the platform on a maintenance plan. Electric tricycles extend the fleet into rural routes, with women riders as the first cohort.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4279392"/>
            <a:ext cx="832104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· LOYALTY &amp; DEVICE MIGRATION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US$100 a month for five months — earn the handset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US$100 traded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0312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4028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US$100 traded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9476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9476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93192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US$100 traded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2356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US$100 traded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78040" y="16916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804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5G-lite smartphone awarded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297180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1181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Discovery-Vitality mechanics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368503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qualifying months unlock the reward. Behaviour is earned, not bought, and the tier resets if trading lapses.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4612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74720" y="297180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0" y="31181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basket sharing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474720" y="368503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household members contribute to one qualifying basket, so families reach the threshold faster and consolidate spend on the platform.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8076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9360" y="297180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31181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purpose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09360" y="368503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~US$50 landed handset with the markup absorbed migrates 2G and 3G users onto the platform. Device cost is customer acquisition, booked as such.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· PAYMENT RAILS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Bank-agnostic by design, multi-bank in practice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4069080" cy="2148840"/>
          </a:xfrm>
          <a:prstGeom prst="roundRect">
            <a:avLst>
              <a:gd name="adj" fmla="val 340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1856232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say to banks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" y="2258568"/>
            <a:ext cx="3666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your remittance APIs into the platform and we bring transaction share-of-wallet: recurring diaspora flows landing as retail settlement rather than cash-out.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exclusivity is requested and none is given. Every rail is one integration among several, so pricing stays competitive and no single institution gates the platform.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691640"/>
            <a:ext cx="4069080" cy="2148840"/>
          </a:xfrm>
          <a:prstGeom prst="roundRect">
            <a:avLst>
              <a:gd name="adj" fmla="val 340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4608" y="1856232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say to the retailer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64608" y="2258568"/>
            <a:ext cx="3666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bring critical mass. Their diaspora bases are already captured audiences; the platform converts those balances into baskets inside your estate.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under discussion are prospects at this stage. Nothing is presented in-app as a confirmed partnership until an agreement is signed.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397764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776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no bank-specific logic in the core. Rails are adapters, so adding or dropping an institution is a configuration change, never a rebuild.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· WHOLESALE &amp; INFORMAL CHANNEL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Tuck shops become distribution extensions, not competitors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1929384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801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orders in a suburb are pooled in the app rather than fragmented across trips.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23744" y="1691640"/>
            <a:ext cx="19293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6624" y="1801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06624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Fulfil locally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706624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tuck shop picks and hands over, cutting distance, fuel and delivery cost.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36008" y="1691640"/>
            <a:ext cx="1929384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8888" y="1801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18888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Repackage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18888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stock is broken into the 200g-type pack sizes the market actually buys.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48272" y="1691640"/>
            <a:ext cx="19293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1152" y="1801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31152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31152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 sells bulk into the channel as a wholesaler and keeps the volume.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310896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2918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34381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size is the unlock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40050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buy 200g, not 2kg. The retailer sells bulk to the tuck shop, the tuck shop repackages to the price point the street can afford — the small-multipack playbook proven by packaged brands expanding regionally.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663440" y="310896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92040" y="329184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4381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government argument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92040" y="40050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informal trade through the platform makes it visible: tax is captured, stock is traceable and counterfeit product is squeezed out. Legitimisation, not enforcement.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38328"/>
            <a:ext cx="1225296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01752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· COMMERCIAL &amp; ENTITY STRUCTURE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301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Diaspora-to-Door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Board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commercial model, two-country structure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" y="22585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storefront and app ship under the retailer's brand, licensed rather than sold.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47288" y="22585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monthly platform fees per tenant, opening at a 100,000-participant tier.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1928" y="18562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81928" y="22585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transaction share on GMV, sitting on top of the recurring base.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29718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" y="3136392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African company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" y="3538728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platform IP and raises capital where liquidity and investor access are deepest. Contracts with tenants and banks sit here.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9718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3136392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Zimbabwean subsidiary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64608" y="3538728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logistics, the scooter fleet and local agreements on the ground, with local employment and local regulatory standing.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" y="4279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as at 13 August — structure to be confirmed with tax and legal counsel before any binding term sheet.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96012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51560"/>
            <a:ext cx="146304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57+ branches into a diaspora fulfilment network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023360" y="297180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32918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6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select a commercial structure and mandate a 60-day pilot on two flagship Harare branches.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74920" y="4686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2026-08-15T07:40:28Z</dcterms:created>
  <dcterms:modified xsi:type="dcterms:W3CDTF">2026-08-15T07:40:28Z</dcterms:modified>
</cp:coreProperties>
</file>